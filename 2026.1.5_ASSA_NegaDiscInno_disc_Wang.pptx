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70" r:id="rId4"/>
    <p:sldId id="264" r:id="rId5"/>
    <p:sldId id="261" r:id="rId6"/>
    <p:sldId id="263" r:id="rId7"/>
    <p:sldId id="262" r:id="rId8"/>
  </p:sldIdLst>
  <p:sldSz cx="9144000" cy="6858000" type="screen4x3"/>
  <p:notesSz cx="6669088" cy="987266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8989"/>
    <a:srgbClr val="D9D9D9"/>
    <a:srgbClr val="E3E3E3"/>
    <a:srgbClr val="CCCDCC"/>
    <a:srgbClr val="636463"/>
    <a:srgbClr val="014A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14"/>
    <p:restoredTop sz="95097" autoAdjust="0"/>
  </p:normalViewPr>
  <p:slideViewPr>
    <p:cSldViewPr>
      <p:cViewPr varScale="1">
        <p:scale>
          <a:sx n="79" d="100"/>
          <a:sy n="79" d="100"/>
        </p:scale>
        <p:origin x="1555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1C9504-5B5B-4460-B400-B8FEE626B4E7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2838" y="1233488"/>
            <a:ext cx="4443412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751388"/>
            <a:ext cx="5335588" cy="3887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88925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8250" y="9377363"/>
            <a:ext cx="288925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DD6F79-3CFE-4B91-B8E5-01631F5C1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0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D6F79-3CFE-4B91-B8E5-01631F5C1B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80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392400" y="4077072"/>
            <a:ext cx="8352928" cy="8400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3200" b="1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subtitle</a:t>
            </a:r>
            <a:endParaRPr lang="de-DE" dirty="0"/>
          </a:p>
        </p:txBody>
      </p:sp>
      <p:sp>
        <p:nvSpPr>
          <p:cNvPr id="9" name="Rechteck 8"/>
          <p:cNvSpPr/>
          <p:nvPr userDrawn="1"/>
        </p:nvSpPr>
        <p:spPr>
          <a:xfrm>
            <a:off x="-4073" y="6124800"/>
            <a:ext cx="9148073" cy="74880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PT Sans" panose="020B0503020203020204" pitchFamily="34" charset="0"/>
            </a:endParaRPr>
          </a:p>
        </p:txBody>
      </p:sp>
      <p:sp>
        <p:nvSpPr>
          <p:cNvPr id="10" name="Fußzeilenplatzhalter 23"/>
          <p:cNvSpPr>
            <a:spLocks noGrp="1"/>
          </p:cNvSpPr>
          <p:nvPr>
            <p:ph type="ftr" sz="quarter" idx="3"/>
          </p:nvPr>
        </p:nvSpPr>
        <p:spPr>
          <a:xfrm>
            <a:off x="187199" y="6314909"/>
            <a:ext cx="438276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rgbClr val="636463"/>
                </a:solidFill>
                <a:latin typeface="+mn-lt"/>
              </a:defRPr>
            </a:lvl1pPr>
          </a:lstStyle>
          <a:p>
            <a:r>
              <a:rPr lang="de-DE" dirty="0"/>
              <a:t>Date| Event/Conference/Seminar| Location</a:t>
            </a:r>
          </a:p>
        </p:txBody>
      </p:sp>
      <p:sp>
        <p:nvSpPr>
          <p:cNvPr id="11" name="Foliennummernplatzhalter 24"/>
          <p:cNvSpPr>
            <a:spLocks noGrp="1"/>
          </p:cNvSpPr>
          <p:nvPr>
            <p:ph type="sldNum" sz="quarter" idx="4"/>
          </p:nvPr>
        </p:nvSpPr>
        <p:spPr>
          <a:xfrm>
            <a:off x="6804000" y="6326401"/>
            <a:ext cx="19440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636463"/>
                </a:solidFill>
                <a:latin typeface="+mn-lt"/>
              </a:defRPr>
            </a:lvl1pPr>
          </a:lstStyle>
          <a:p>
            <a:r>
              <a:rPr lang="de-DE" dirty="0"/>
              <a:t>Speaker</a:t>
            </a:r>
          </a:p>
        </p:txBody>
      </p:sp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92400" y="2844000"/>
            <a:ext cx="8352928" cy="1176131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>
              <a:defRPr sz="3600" b="1" cap="none">
                <a:solidFill>
                  <a:srgbClr val="014A8F"/>
                </a:solidFill>
                <a:latin typeface="+mn-lt"/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title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  <p:pic>
        <p:nvPicPr>
          <p:cNvPr id="15" name="Picture 2" descr="C:\Users\lens\Desktop\Logo_MPI-IW_englisch_negativ_300dpi.jp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4570469" cy="15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6830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style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0FFE64-384B-44F1-B562-E01D9106D3C3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 userDrawn="1"/>
        </p:nvCxnSpPr>
        <p:spPr>
          <a:xfrm>
            <a:off x="457200" y="1087200"/>
            <a:ext cx="8244000" cy="0"/>
          </a:xfrm>
          <a:prstGeom prst="line">
            <a:avLst/>
          </a:prstGeom>
          <a:ln w="25400">
            <a:solidFill>
              <a:srgbClr val="014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457200" y="1196752"/>
            <a:ext cx="8244000" cy="32403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898989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subtitle</a:t>
            </a:r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628800"/>
            <a:ext cx="8244000" cy="4536504"/>
          </a:xfrm>
        </p:spPr>
        <p:txBody>
          <a:bodyPr/>
          <a:lstStyle/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Name of speaker and/or topic of presentation etc.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58521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0FFE64-384B-44F1-B562-E01D9106D3C3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style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457200" y="1087200"/>
            <a:ext cx="8244000" cy="0"/>
          </a:xfrm>
          <a:prstGeom prst="line">
            <a:avLst/>
          </a:prstGeom>
          <a:ln w="25400">
            <a:solidFill>
              <a:srgbClr val="014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195200"/>
            <a:ext cx="8244000" cy="4970104"/>
          </a:xfrm>
        </p:spPr>
        <p:txBody>
          <a:bodyPr/>
          <a:lstStyle/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Name of speaker and/or topic of presentation etc.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00569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6510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6510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0FFE64-384B-44F1-B562-E01D9106D3C3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style</a:t>
            </a:r>
          </a:p>
        </p:txBody>
      </p:sp>
      <p:cxnSp>
        <p:nvCxnSpPr>
          <p:cNvPr id="11" name="Gerade Verbindung 10"/>
          <p:cNvCxnSpPr/>
          <p:nvPr userDrawn="1"/>
        </p:nvCxnSpPr>
        <p:spPr>
          <a:xfrm>
            <a:off x="457200" y="1087200"/>
            <a:ext cx="8244000" cy="0"/>
          </a:xfrm>
          <a:prstGeom prst="line">
            <a:avLst/>
          </a:prstGeom>
          <a:ln w="25400">
            <a:solidFill>
              <a:srgbClr val="014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Untertitel 2"/>
          <p:cNvSpPr>
            <a:spLocks noGrp="1"/>
          </p:cNvSpPr>
          <p:nvPr>
            <p:ph type="subTitle" idx="12" hasCustomPrompt="1"/>
          </p:nvPr>
        </p:nvSpPr>
        <p:spPr>
          <a:xfrm>
            <a:off x="457200" y="1196752"/>
            <a:ext cx="4039200" cy="32403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2000" b="1">
                <a:solidFill>
                  <a:srgbClr val="898989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subtitle</a:t>
            </a:r>
            <a:endParaRPr lang="de-DE" dirty="0"/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4662000" y="1196752"/>
            <a:ext cx="4039200" cy="32400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lang="de-DE" sz="2000" b="1" kern="1200" dirty="0">
                <a:solidFill>
                  <a:srgbClr val="898989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subtitle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Name of speaker and/or topic of presentation etc.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02021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57200" y="1195200"/>
            <a:ext cx="4038600" cy="497010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648200" y="1195200"/>
            <a:ext cx="4038600" cy="497010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0FFE64-384B-44F1-B562-E01D9106D3C3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style</a:t>
            </a:r>
          </a:p>
        </p:txBody>
      </p:sp>
      <p:cxnSp>
        <p:nvCxnSpPr>
          <p:cNvPr id="11" name="Gerade Verbindung 10"/>
          <p:cNvCxnSpPr/>
          <p:nvPr userDrawn="1"/>
        </p:nvCxnSpPr>
        <p:spPr>
          <a:xfrm>
            <a:off x="457200" y="1087200"/>
            <a:ext cx="8244000" cy="0"/>
          </a:xfrm>
          <a:prstGeom prst="line">
            <a:avLst/>
          </a:prstGeom>
          <a:ln w="25400">
            <a:solidFill>
              <a:srgbClr val="014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Name of speaker and/or topic of presentation etc.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47733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57200" y="2204864"/>
            <a:ext cx="3178696" cy="396193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779912" y="1195200"/>
            <a:ext cx="4906888" cy="497010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0FFE64-384B-44F1-B562-E01D9106D3C3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style</a:t>
            </a:r>
          </a:p>
        </p:txBody>
      </p:sp>
      <p:cxnSp>
        <p:nvCxnSpPr>
          <p:cNvPr id="11" name="Gerade Verbindung 10"/>
          <p:cNvCxnSpPr/>
          <p:nvPr userDrawn="1"/>
        </p:nvCxnSpPr>
        <p:spPr>
          <a:xfrm>
            <a:off x="457200" y="1087200"/>
            <a:ext cx="8244000" cy="0"/>
          </a:xfrm>
          <a:prstGeom prst="line">
            <a:avLst/>
          </a:prstGeom>
          <a:ln w="25400">
            <a:solidFill>
              <a:srgbClr val="014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Untertitel 2"/>
          <p:cNvSpPr>
            <a:spLocks noGrp="1"/>
          </p:cNvSpPr>
          <p:nvPr>
            <p:ph type="subTitle" idx="12" hasCustomPrompt="1"/>
          </p:nvPr>
        </p:nvSpPr>
        <p:spPr>
          <a:xfrm>
            <a:off x="457200" y="1196752"/>
            <a:ext cx="3178696" cy="86409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rgbClr val="898989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subtitle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Name of speaker and/or topic of presentation etc.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13499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57200" y="1196752"/>
            <a:ext cx="3178696" cy="49700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779912" y="1195200"/>
            <a:ext cx="4906888" cy="497010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0FFE64-384B-44F1-B562-E01D9106D3C3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style</a:t>
            </a:r>
          </a:p>
        </p:txBody>
      </p:sp>
      <p:cxnSp>
        <p:nvCxnSpPr>
          <p:cNvPr id="11" name="Gerade Verbindung 10"/>
          <p:cNvCxnSpPr/>
          <p:nvPr userDrawn="1"/>
        </p:nvCxnSpPr>
        <p:spPr>
          <a:xfrm>
            <a:off x="457200" y="1087200"/>
            <a:ext cx="8244000" cy="0"/>
          </a:xfrm>
          <a:prstGeom prst="line">
            <a:avLst/>
          </a:prstGeom>
          <a:ln w="25400">
            <a:solidFill>
              <a:srgbClr val="014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Name of speaker and/or topic of presentation etc.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0574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5522504" y="2206800"/>
            <a:ext cx="3178696" cy="3963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61516" y="1196752"/>
            <a:ext cx="4906888" cy="497010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0FFE64-384B-44F1-B562-E01D9106D3C3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style</a:t>
            </a:r>
          </a:p>
        </p:txBody>
      </p:sp>
      <p:cxnSp>
        <p:nvCxnSpPr>
          <p:cNvPr id="11" name="Gerade Verbindung 10"/>
          <p:cNvCxnSpPr/>
          <p:nvPr userDrawn="1"/>
        </p:nvCxnSpPr>
        <p:spPr>
          <a:xfrm>
            <a:off x="457200" y="1087200"/>
            <a:ext cx="8244000" cy="0"/>
          </a:xfrm>
          <a:prstGeom prst="line">
            <a:avLst/>
          </a:prstGeom>
          <a:ln w="25400">
            <a:solidFill>
              <a:srgbClr val="014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508625" y="1195200"/>
            <a:ext cx="3167063" cy="864000"/>
          </a:xfrm>
        </p:spPr>
        <p:txBody>
          <a:bodyPr anchor="t">
            <a:normAutofit/>
          </a:bodyPr>
          <a:lstStyle>
            <a:lvl1pPr marL="0" indent="0">
              <a:buNone/>
              <a:defRPr sz="2400" b="1" baseline="0">
                <a:solidFill>
                  <a:srgbClr val="898989"/>
                </a:solidFill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subtitle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Name of speaker and/or topic of presentation etc.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41201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5522504" y="1196752"/>
            <a:ext cx="3178696" cy="49700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61516" y="1196752"/>
            <a:ext cx="4906888" cy="497010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0FFE64-384B-44F1-B562-E01D9106D3C3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style</a:t>
            </a:r>
          </a:p>
        </p:txBody>
      </p:sp>
      <p:cxnSp>
        <p:nvCxnSpPr>
          <p:cNvPr id="11" name="Gerade Verbindung 10"/>
          <p:cNvCxnSpPr/>
          <p:nvPr userDrawn="1"/>
        </p:nvCxnSpPr>
        <p:spPr>
          <a:xfrm>
            <a:off x="457200" y="1087200"/>
            <a:ext cx="8244000" cy="0"/>
          </a:xfrm>
          <a:prstGeom prst="line">
            <a:avLst/>
          </a:prstGeom>
          <a:ln w="25400">
            <a:solidFill>
              <a:srgbClr val="014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Name of speaker and/or topic of presentation etc.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5540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0FFE64-384B-44F1-B562-E01D9106D3C3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2" hasCustomPrompt="1"/>
          </p:nvPr>
        </p:nvSpPr>
        <p:spPr>
          <a:xfrm>
            <a:off x="468313" y="1195200"/>
            <a:ext cx="8280400" cy="432203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(s)</a:t>
            </a:r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457200" y="1087200"/>
            <a:ext cx="8244000" cy="0"/>
          </a:xfrm>
          <a:prstGeom prst="line">
            <a:avLst/>
          </a:prstGeom>
          <a:ln w="25400">
            <a:solidFill>
              <a:srgbClr val="014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661248"/>
            <a:ext cx="8291513" cy="50405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636463"/>
                </a:solidFill>
              </a:defRPr>
            </a:lvl1pPr>
          </a:lstStyle>
          <a:p>
            <a:pPr lvl="0"/>
            <a:r>
              <a:rPr lang="de-DE" dirty="0"/>
              <a:t>Caption</a:t>
            </a:r>
          </a:p>
        </p:txBody>
      </p:sp>
      <p:sp>
        <p:nvSpPr>
          <p:cNvPr id="13" name="Titel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style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 dirty="0"/>
              <a:t>Name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speaker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/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topic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r>
              <a:rPr lang="de-DE" dirty="0"/>
              <a:t> etc.</a:t>
            </a:r>
          </a:p>
        </p:txBody>
      </p:sp>
    </p:spTree>
    <p:extLst>
      <p:ext uri="{BB962C8B-B14F-4D97-AF65-F5344CB8AC3E}">
        <p14:creationId xmlns:p14="http://schemas.microsoft.com/office/powerpoint/2010/main" val="114073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0FFE64-384B-44F1-B562-E01D9106D3C3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Name of speaker and/or topic of presentation etc.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9412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style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4785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8" name="Rechteck 7"/>
          <p:cNvSpPr/>
          <p:nvPr userDrawn="1"/>
        </p:nvSpPr>
        <p:spPr>
          <a:xfrm>
            <a:off x="1" y="6318000"/>
            <a:ext cx="9144000" cy="54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+mn-lt"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716016" y="6453336"/>
            <a:ext cx="3528392" cy="273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636463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de-DE" dirty="0"/>
              <a:t>Name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speaker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/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topic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r>
              <a:rPr lang="de-DE" dirty="0"/>
              <a:t> etc.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316416" y="6457866"/>
            <a:ext cx="376208" cy="273600"/>
          </a:xfrm>
          <a:prstGeom prst="rect">
            <a:avLst/>
          </a:prstGeom>
        </p:spPr>
        <p:txBody>
          <a:bodyPr vert="horz" lIns="46800" tIns="45720" rIns="46800" bIns="45720" rtlCol="0" anchor="ctr"/>
          <a:lstStyle>
            <a:lvl1pPr algn="r">
              <a:defRPr sz="1100">
                <a:solidFill>
                  <a:srgbClr val="636463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fld id="{730FFE64-384B-44F1-B562-E01D9106D3C3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600" y="6354000"/>
            <a:ext cx="476672" cy="4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ußzeilenplatzhalter 4"/>
          <p:cNvSpPr txBox="1">
            <a:spLocks/>
          </p:cNvSpPr>
          <p:nvPr userDrawn="1"/>
        </p:nvSpPr>
        <p:spPr>
          <a:xfrm>
            <a:off x="611560" y="6325200"/>
            <a:ext cx="4104456" cy="532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rgbClr val="63646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Planck Institute </a:t>
            </a:r>
            <a:r>
              <a:rPr lang="de-DE" sz="14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de-DE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Innovation </a:t>
            </a:r>
            <a:r>
              <a:rPr lang="de-DE" sz="14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de-DE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4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Competition</a:t>
            </a:r>
            <a:endParaRPr lang="de-DE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433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9" r:id="rId3"/>
    <p:sldLayoutId id="2147483652" r:id="rId4"/>
    <p:sldLayoutId id="2147483662" r:id="rId5"/>
    <p:sldLayoutId id="2147483663" r:id="rId6"/>
    <p:sldLayoutId id="2147483665" r:id="rId7"/>
    <p:sldLayoutId id="2147483668" r:id="rId8"/>
    <p:sldLayoutId id="2147483667" r:id="rId9"/>
    <p:sldLayoutId id="2147483654" r:id="rId10"/>
    <p:sldLayoutId id="2147483660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rgbClr val="014A8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4294967295"/>
          </p:nvPr>
        </p:nvSpPr>
        <p:spPr>
          <a:xfrm>
            <a:off x="199566" y="3781328"/>
            <a:ext cx="8744867" cy="28880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Colleen Cunningham</a:t>
            </a:r>
            <a:r>
              <a:rPr lang="de-D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1        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Jennifer Kao</a:t>
            </a:r>
            <a:r>
              <a:rPr lang="de-D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2</a:t>
            </a:r>
            <a:endParaRPr lang="de-DE" dirty="0">
              <a:solidFill>
                <a:schemeClr val="tx1">
                  <a:lumMod val="95000"/>
                  <a:lumOff val="5000"/>
                </a:schemeClr>
              </a:solidFill>
              <a:latin typeface="Palatino Linotype" panose="02040502050505030304" pitchFamily="18" charset="0"/>
            </a:endParaRPr>
          </a:p>
          <a:p>
            <a:pPr marL="0" indent="0" algn="ctr">
              <a:buNone/>
            </a:pPr>
            <a:endParaRPr lang="de-DE" sz="1700" dirty="0">
              <a:solidFill>
                <a:schemeClr val="tx1">
                  <a:lumMod val="95000"/>
                  <a:lumOff val="5000"/>
                </a:schemeClr>
              </a:solidFill>
              <a:latin typeface="Palatino Linotype" panose="02040502050505030304" pitchFamily="18" charset="0"/>
            </a:endParaRPr>
          </a:p>
          <a:p>
            <a:pPr marL="0" indent="0" algn="ctr">
              <a:buNone/>
            </a:pPr>
            <a:r>
              <a:rPr lang="de-DE" sz="18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1</a:t>
            </a:r>
            <a:r>
              <a:rPr lang="de-DE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 University of Utah           </a:t>
            </a:r>
            <a:r>
              <a:rPr lang="de-DE" sz="18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2</a:t>
            </a:r>
            <a:r>
              <a:rPr lang="de-DE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 UCLA</a:t>
            </a:r>
          </a:p>
          <a:p>
            <a:pPr marL="0" indent="0" algn="ctr">
              <a:buNone/>
            </a:pPr>
            <a:endParaRPr lang="de-DE" sz="1600" dirty="0">
              <a:solidFill>
                <a:schemeClr val="tx1">
                  <a:lumMod val="95000"/>
                  <a:lumOff val="5000"/>
                </a:schemeClr>
              </a:solidFill>
              <a:latin typeface="Palatino Linotype" panose="02040502050505030304" pitchFamily="18" charset="0"/>
            </a:endParaRPr>
          </a:p>
          <a:p>
            <a:pPr marL="0" indent="0" algn="ctr">
              <a:buNone/>
            </a:pPr>
            <a:endParaRPr lang="de-DE" sz="1600" dirty="0">
              <a:solidFill>
                <a:schemeClr val="tx1">
                  <a:lumMod val="95000"/>
                  <a:lumOff val="5000"/>
                </a:schemeClr>
              </a:solidFill>
              <a:latin typeface="Palatino Linotype" panose="02040502050505030304" pitchFamily="18" charset="0"/>
            </a:endParaRPr>
          </a:p>
          <a:p>
            <a:pPr marL="0" indent="0" algn="ctr">
              <a:buNone/>
            </a:pPr>
            <a:r>
              <a:rPr lang="de-DE" sz="1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Discussant</a:t>
            </a:r>
            <a:r>
              <a:rPr lang="de-DE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: Lucy Xiaolu Wang</a:t>
            </a:r>
          </a:p>
          <a:p>
            <a:pPr marL="0" indent="0" algn="ctr">
              <a:buNone/>
            </a:pPr>
            <a:endParaRPr lang="de-DE" sz="300" dirty="0">
              <a:solidFill>
                <a:schemeClr val="tx1">
                  <a:lumMod val="50000"/>
                  <a:lumOff val="50000"/>
                </a:schemeClr>
              </a:solidFill>
              <a:latin typeface="Palatino Linotype" panose="02040502050505030304" pitchFamily="18" charset="0"/>
            </a:endParaRPr>
          </a:p>
          <a:p>
            <a:pPr marL="0" indent="0" algn="ctr">
              <a:buNone/>
            </a:pPr>
            <a:r>
              <a:rPr lang="de-DE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University of Massachusetts Amherst; MPI - innovation; CCHE</a:t>
            </a:r>
          </a:p>
          <a:p>
            <a:pPr marL="0" indent="0" algn="ctr">
              <a:buNone/>
            </a:pPr>
            <a:endParaRPr lang="de-DE" sz="1100" dirty="0">
              <a:solidFill>
                <a:schemeClr val="tx1">
                  <a:lumMod val="95000"/>
                  <a:lumOff val="5000"/>
                </a:schemeClr>
              </a:solidFill>
              <a:latin typeface="Palatino Linotype" panose="02040502050505030304" pitchFamily="18" charset="0"/>
            </a:endParaRPr>
          </a:p>
          <a:p>
            <a:pPr marL="0" indent="0" algn="ctr">
              <a:buNone/>
            </a:pPr>
            <a:r>
              <a:rPr lang="de-DE" sz="1800" dirty="0">
                <a:solidFill>
                  <a:schemeClr val="accent1">
                    <a:lumMod val="75000"/>
                  </a:schemeClr>
                </a:solidFill>
                <a:latin typeface="Palatino Linotype" panose="02040502050505030304" pitchFamily="18" charset="0"/>
              </a:rPr>
              <a:t>ASSA 2026.1.5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6053F3-DF4F-E11E-C0F3-9EBD899D88A4}"/>
              </a:ext>
            </a:extLst>
          </p:cNvPr>
          <p:cNvSpPr/>
          <p:nvPr/>
        </p:nvSpPr>
        <p:spPr>
          <a:xfrm>
            <a:off x="0" y="0"/>
            <a:ext cx="4572000" cy="16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0419" y="2138338"/>
            <a:ext cx="8784976" cy="699689"/>
          </a:xfrm>
        </p:spPr>
        <p:txBody>
          <a:bodyPr>
            <a:noAutofit/>
          </a:bodyPr>
          <a:lstStyle/>
          <a:p>
            <a:r>
              <a:rPr lang="en-US" sz="3300" dirty="0">
                <a:latin typeface="Palatino Linotype" panose="02040502050505030304" pitchFamily="18" charset="0"/>
              </a:rPr>
              <a:t>Negative Product Disclosure and Innovation</a:t>
            </a:r>
            <a:endParaRPr lang="de-DE" sz="33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458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>
                <a:latin typeface="Palatino Linotype" panose="02040502050505030304" pitchFamily="18" charset="0"/>
              </a:rPr>
              <a:t>Main message and contribution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102094" y="1364136"/>
            <a:ext cx="8983538" cy="4896544"/>
          </a:xfrm>
        </p:spPr>
        <p:txBody>
          <a:bodyPr>
            <a:normAutofit/>
          </a:bodyPr>
          <a:lstStyle/>
          <a:p>
            <a:r>
              <a:rPr lang="en-US" sz="2300" dirty="0">
                <a:latin typeface="Palatino Linotype" charset="0"/>
                <a:ea typeface="Palatino Linotype" charset="0"/>
                <a:cs typeface="Palatino Linotype" charset="0"/>
              </a:rPr>
              <a:t>Research question: How does a large-scale negative product info disclosure affect the rate, direction, and quality of innovation?</a:t>
            </a:r>
          </a:p>
          <a:p>
            <a:endParaRPr lang="en-US" sz="1800" dirty="0">
              <a:latin typeface="Palatino Linotype" charset="0"/>
              <a:ea typeface="Palatino Linotype" charset="0"/>
              <a:cs typeface="Palatino Linotype" charset="0"/>
            </a:endParaRPr>
          </a:p>
          <a:p>
            <a:r>
              <a:rPr lang="en-US" sz="2300" dirty="0">
                <a:latin typeface="Palatino Linotype" charset="0"/>
                <a:ea typeface="Palatino Linotype" charset="0"/>
                <a:cs typeface="Palatino Linotype" charset="0"/>
              </a:rPr>
              <a:t>Approach: diff-in-diff exploits the 2019 termination of ASR prog.</a:t>
            </a:r>
            <a:endParaRPr lang="en-US" dirty="0">
              <a:latin typeface="Palatino Linotype" charset="0"/>
              <a:ea typeface="Palatino Linotype" charset="0"/>
              <a:cs typeface="Palatino Linotype" charset="0"/>
            </a:endParaRPr>
          </a:p>
          <a:p>
            <a:pPr lvl="1"/>
            <a:r>
              <a:rPr 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examining both the 2019 info release and the 2017 wind down phase</a:t>
            </a:r>
          </a:p>
          <a:p>
            <a:pPr lvl="1"/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  <a:latin typeface="Palatino Linotype" charset="0"/>
              <a:ea typeface="Palatino Linotype" charset="0"/>
              <a:cs typeface="Palatino Linotype" charset="0"/>
            </a:endParaRPr>
          </a:p>
          <a:p>
            <a:r>
              <a:rPr lang="en-US" sz="2300" dirty="0">
                <a:latin typeface="Palatino Linotype" charset="0"/>
                <a:ea typeface="Palatino Linotype" charset="0"/>
                <a:cs typeface="Palatino Linotype" charset="0"/>
              </a:rPr>
              <a:t>Results: 17% drop in new device application in affected markets</a:t>
            </a:r>
          </a:p>
          <a:p>
            <a:pPr lvl="1"/>
            <a:r>
              <a:rPr lang="en-US" sz="1900" dirty="0">
                <a:solidFill>
                  <a:srgbClr val="0070C0"/>
                </a:solidFill>
                <a:latin typeface="Palatino Linotype" charset="0"/>
                <a:ea typeface="Palatino Linotype" charset="0"/>
                <a:cs typeface="Palatino Linotype" charset="0"/>
              </a:rPr>
              <a:t>Mainly driven by information effects, rather than withholding</a:t>
            </a:r>
          </a:p>
          <a:p>
            <a:pPr lvl="1"/>
            <a:r>
              <a:rPr lang="en-US" sz="1900" dirty="0">
                <a:solidFill>
                  <a:srgbClr val="0070C0"/>
                </a:solidFill>
                <a:latin typeface="Palatino Linotype" charset="0"/>
                <a:ea typeface="Palatino Linotype" charset="0"/>
                <a:cs typeface="Palatino Linotype" charset="0"/>
              </a:rPr>
              <a:t>Firms develop safter, higher-quality (in patent citations), but less novel (refer to older predicate) devices, reallocate R&amp;D away, and more exit</a:t>
            </a:r>
          </a:p>
          <a:p>
            <a:endParaRPr lang="en-US" sz="1800" dirty="0">
              <a:latin typeface="Palatino Linotype" charset="0"/>
              <a:ea typeface="Palatino Linotype" charset="0"/>
              <a:cs typeface="Palatino Linotype" charset="0"/>
            </a:endParaRPr>
          </a:p>
          <a:p>
            <a:r>
              <a:rPr lang="en-US" sz="2300" dirty="0">
                <a:latin typeface="Palatino Linotype" charset="0"/>
              </a:rPr>
              <a:t>Contributes to several strands of literature on disclosure (post-market, forced) and innovation, with novel data and measures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EADC68-8D11-12FF-73E2-4724A3126492}"/>
              </a:ext>
            </a:extLst>
          </p:cNvPr>
          <p:cNvSpPr/>
          <p:nvPr/>
        </p:nvSpPr>
        <p:spPr>
          <a:xfrm>
            <a:off x="683568" y="6381328"/>
            <a:ext cx="417646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197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516F5-A667-CA51-BC21-E8B033373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>
                <a:latin typeface="Palatino Linotype" panose="02040502050505030304" pitchFamily="18" charset="0"/>
              </a:rPr>
              <a:t>The hidden dangers in medical devices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0E534-D65A-82B5-1563-C3A1CD74A8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096" y="1122952"/>
            <a:ext cx="5239418" cy="5166912"/>
          </a:xfrm>
        </p:spPr>
        <p:txBody>
          <a:bodyPr>
            <a:normAutofit lnSpcReduction="10000"/>
          </a:bodyPr>
          <a:lstStyle/>
          <a:p>
            <a:r>
              <a:rPr lang="en-US" sz="2300" dirty="0">
                <a:latin typeface="Palatino Linotype" panose="02040502050505030304" pitchFamily="18" charset="0"/>
              </a:rPr>
              <a:t>Less strict regulation than drugs</a:t>
            </a:r>
          </a:p>
          <a:p>
            <a:endParaRPr lang="en-US" sz="1200" dirty="0">
              <a:latin typeface="Palatino Linotype" panose="02040502050505030304" pitchFamily="18" charset="0"/>
            </a:endParaRPr>
          </a:p>
          <a:p>
            <a:r>
              <a:rPr lang="en-US" sz="2300" dirty="0">
                <a:latin typeface="Palatino Linotype" panose="02040502050505030304" pitchFamily="18" charset="0"/>
              </a:rPr>
              <a:t>Only class III (high risk) devices requires clinical/lab evidence from premarket approvals (PMA)</a:t>
            </a:r>
          </a:p>
          <a:p>
            <a:pPr lvl="1"/>
            <a:r>
              <a:rPr lang="en-US" sz="2000" dirty="0">
                <a:solidFill>
                  <a:srgbClr val="898989"/>
                </a:solidFill>
                <a:latin typeface="Palatino Linotype" panose="02040502050505030304" pitchFamily="18" charset="0"/>
              </a:rPr>
              <a:t>Ex. pacemakers, breast implants, deep brain stimulators, high-risk SaMD</a:t>
            </a:r>
          </a:p>
          <a:p>
            <a:endParaRPr lang="en-US" sz="1200" dirty="0">
              <a:latin typeface="Palatino Linotype" panose="02040502050505030304" pitchFamily="18" charset="0"/>
            </a:endParaRPr>
          </a:p>
          <a:p>
            <a:r>
              <a:rPr lang="en-US" sz="2300" dirty="0">
                <a:latin typeface="Palatino Linotype" panose="02040502050505030304" pitchFamily="18" charset="0"/>
              </a:rPr>
              <a:t>Class II (med risk) 510(k) pathway relies on references (i.e., predicate)</a:t>
            </a:r>
          </a:p>
          <a:p>
            <a:pPr lvl="1"/>
            <a:r>
              <a:rPr lang="en-US" sz="2000" dirty="0">
                <a:solidFill>
                  <a:srgbClr val="898989"/>
                </a:solidFill>
                <a:latin typeface="Palatino Linotype" panose="02040502050505030304" pitchFamily="18" charset="0"/>
              </a:rPr>
              <a:t>Ex. Da Vinci Surgical robot</a:t>
            </a:r>
          </a:p>
          <a:p>
            <a:endParaRPr lang="en-US" sz="1200" dirty="0">
              <a:latin typeface="Palatino Linotype" panose="02040502050505030304" pitchFamily="18" charset="0"/>
            </a:endParaRPr>
          </a:p>
          <a:p>
            <a:r>
              <a:rPr lang="en-US" sz="2300" dirty="0">
                <a:latin typeface="Palatino Linotype" panose="02040502050505030304" pitchFamily="18" charset="0"/>
              </a:rPr>
              <a:t>De Novo clearance: low/med risk, no predicate, avoid PMA</a:t>
            </a:r>
          </a:p>
          <a:p>
            <a:pPr lvl="1"/>
            <a:r>
              <a:rPr lang="en-US" sz="2000" dirty="0">
                <a:solidFill>
                  <a:srgbClr val="898989"/>
                </a:solidFill>
                <a:latin typeface="Palatino Linotype" panose="02040502050505030304" pitchFamily="18" charset="0"/>
              </a:rPr>
              <a:t>Ex. Apple Watch’s health features (ECG, IRN)</a:t>
            </a:r>
          </a:p>
        </p:txBody>
      </p:sp>
      <p:pic>
        <p:nvPicPr>
          <p:cNvPr id="6" name="Picture 5" descr="A poster for a movie&#10;&#10;AI-generated content may be incorrect.">
            <a:extLst>
              <a:ext uri="{FF2B5EF4-FFF2-40B4-BE49-F238E27FC236}">
                <a16:creationId xmlns:a16="http://schemas.microsoft.com/office/drawing/2014/main" id="{C50B1008-7BFD-580F-95B4-C46127825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418" y="1142500"/>
            <a:ext cx="3888432" cy="56389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25EFCC2-D0C2-9FD6-428B-60F732BDF201}"/>
              </a:ext>
            </a:extLst>
          </p:cNvPr>
          <p:cNvSpPr/>
          <p:nvPr/>
        </p:nvSpPr>
        <p:spPr>
          <a:xfrm>
            <a:off x="683568" y="6381328"/>
            <a:ext cx="417646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10A407-7136-2C2D-8A85-CD343A59C0B8}"/>
              </a:ext>
            </a:extLst>
          </p:cNvPr>
          <p:cNvSpPr txBox="1"/>
          <p:nvPr/>
        </p:nvSpPr>
        <p:spPr>
          <a:xfrm>
            <a:off x="2490621" y="6384204"/>
            <a:ext cx="2323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2018 documentary -&gt;</a:t>
            </a:r>
          </a:p>
        </p:txBody>
      </p:sp>
    </p:spTree>
    <p:extLst>
      <p:ext uri="{BB962C8B-B14F-4D97-AF65-F5344CB8AC3E}">
        <p14:creationId xmlns:p14="http://schemas.microsoft.com/office/powerpoint/2010/main" val="337099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60648"/>
            <a:ext cx="9073008" cy="706090"/>
          </a:xfrm>
        </p:spPr>
        <p:txBody>
          <a:bodyPr>
            <a:normAutofit/>
          </a:bodyPr>
          <a:lstStyle/>
          <a:p>
            <a:r>
              <a:rPr lang="en-US" sz="3400" dirty="0">
                <a:latin typeface="Palatino Linotype" panose="02040502050505030304" pitchFamily="18" charset="0"/>
              </a:rPr>
              <a:t>Institutional setting: info/risk class nuances</a:t>
            </a:r>
            <a:endParaRPr lang="en-US" sz="3000" i="1" u="sng" dirty="0">
              <a:latin typeface="Palatino Linotype" panose="0204050205050503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84720" y="1340768"/>
            <a:ext cx="8942048" cy="4925728"/>
          </a:xfrm>
        </p:spPr>
        <p:txBody>
          <a:bodyPr>
            <a:normAutofit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1: What info does ASR reveal: new types of problems or higher intensity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Why ASR came into place and how the gradual addition of prod market work?</a:t>
            </a:r>
          </a:p>
          <a:p>
            <a:pPr lvl="1"/>
            <a:r>
              <a:rPr lang="en-US" b="1" u="sng" dirty="0">
                <a:solidFill>
                  <a:schemeClr val="accent1"/>
                </a:solidFill>
                <a:latin typeface="Palatino Linotype" panose="02040502050505030304" pitchFamily="18" charset="0"/>
              </a:rPr>
              <a:t>Ideas</a:t>
            </a:r>
            <a:r>
              <a:rPr lang="en-US" dirty="0">
                <a:solidFill>
                  <a:schemeClr val="accent1"/>
                </a:solidFill>
                <a:latin typeface="Palatino Linotype" panose="02040502050505030304" pitchFamily="18" charset="0"/>
              </a:rPr>
              <a:t>: 1) compare ASR vs non-ASR AEs on the distribution differences, on severity (death </a:t>
            </a:r>
            <a:r>
              <a:rPr lang="en-US" i="1" dirty="0">
                <a:solidFill>
                  <a:schemeClr val="accent1"/>
                </a:solidFill>
                <a:latin typeface="Palatino Linotype" panose="02040502050505030304" pitchFamily="18" charset="0"/>
              </a:rPr>
              <a:t>v.</a:t>
            </a:r>
            <a:r>
              <a:rPr lang="en-US" dirty="0">
                <a:solidFill>
                  <a:schemeClr val="accent1"/>
                </a:solidFill>
                <a:latin typeface="Palatino Linotype" panose="02040502050505030304" pitchFamily="18" charset="0"/>
              </a:rPr>
              <a:t> injuries </a:t>
            </a:r>
            <a:r>
              <a:rPr lang="en-US" i="1" dirty="0">
                <a:solidFill>
                  <a:schemeClr val="accent1"/>
                </a:solidFill>
                <a:latin typeface="Palatino Linotype" panose="02040502050505030304" pitchFamily="18" charset="0"/>
              </a:rPr>
              <a:t>v.</a:t>
            </a:r>
            <a:r>
              <a:rPr lang="en-US" dirty="0">
                <a:solidFill>
                  <a:schemeClr val="accent1"/>
                </a:solidFill>
                <a:latin typeface="Palatino Linotype" panose="02040502050505030304" pitchFamily="18" charset="0"/>
              </a:rPr>
              <a:t> malfunction); 2) do firm/market react differently to info on extensive vs intensive margins (current </a:t>
            </a:r>
            <a:r>
              <a:rPr lang="en-US" dirty="0" err="1">
                <a:solidFill>
                  <a:schemeClr val="accent1"/>
                </a:solidFill>
                <a:latin typeface="Palatino Linotype" panose="02040502050505030304" pitchFamily="18" charset="0"/>
              </a:rPr>
              <a:t>HighExposure</a:t>
            </a:r>
            <a:r>
              <a:rPr lang="en-US" dirty="0">
                <a:solidFill>
                  <a:schemeClr val="accent1"/>
                </a:solidFill>
                <a:latin typeface="Palatino Linotype" panose="02040502050505030304" pitchFamily="18" charset="0"/>
              </a:rPr>
              <a:t> = ever-exposed); 3) clarify which % of markets are high exposure (2%), market-year or firm-level</a:t>
            </a:r>
            <a:endParaRPr lang="en-US" sz="1600" dirty="0">
              <a:solidFill>
                <a:schemeClr val="accent1"/>
              </a:solidFill>
              <a:latin typeface="Palatino Linotype" panose="02040502050505030304" pitchFamily="18" charset="0"/>
            </a:endParaRPr>
          </a:p>
          <a:p>
            <a:pPr lvl="1"/>
            <a:endParaRPr lang="en-US" sz="2000" dirty="0">
              <a:latin typeface="Palatino Linotype" panose="02040502050505030304" pitchFamily="18" charset="0"/>
            </a:endParaRPr>
          </a:p>
          <a:p>
            <a:r>
              <a:rPr lang="en-US" dirty="0">
                <a:latin typeface="Palatino Linotype" panose="02040502050505030304" pitchFamily="18" charset="0"/>
              </a:rPr>
              <a:t>2: Firms increase safer (text measure), higher-quality (2-year patent </a:t>
            </a:r>
            <a:r>
              <a:rPr lang="en-US" dirty="0" err="1">
                <a:latin typeface="Palatino Linotype" panose="02040502050505030304" pitchFamily="18" charset="0"/>
              </a:rPr>
              <a:t>fwd</a:t>
            </a:r>
            <a:r>
              <a:rPr lang="en-US" dirty="0">
                <a:latin typeface="Palatino Linotype" panose="02040502050505030304" pitchFamily="18" charset="0"/>
              </a:rPr>
              <a:t> citation), yet less novel (older predicate) devices: quality vs novelty?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Quality is more critical for class III devices, but class II devices drive the results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Palatino Linotype" panose="02040502050505030304" pitchFamily="18" charset="0"/>
            </a:endParaRPr>
          </a:p>
          <a:p>
            <a:pPr lvl="1"/>
            <a:r>
              <a:rPr lang="en-US" b="1" u="sng" dirty="0">
                <a:solidFill>
                  <a:schemeClr val="accent1"/>
                </a:solidFill>
                <a:latin typeface="Palatino Linotype" panose="02040502050505030304" pitchFamily="18" charset="0"/>
              </a:rPr>
              <a:t>Ideas</a:t>
            </a:r>
            <a:r>
              <a:rPr lang="en-US" dirty="0">
                <a:solidFill>
                  <a:schemeClr val="accent1"/>
                </a:solidFill>
                <a:latin typeface="Palatino Linotype" panose="02040502050505030304" pitchFamily="18" charset="0"/>
              </a:rPr>
              <a:t>: 1) are some of the released injuries suggest going though PMA or de novo pathway rather than 510(k)? Are some of the ASRs in categories encountered med device regulations (III-&gt;II)? 2) are there market-based measures of “quality” in terms of safe, effective (link w trials), and low recalls?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A8DC14-4DBA-0215-4CE0-73617E845F58}"/>
              </a:ext>
            </a:extLst>
          </p:cNvPr>
          <p:cNvSpPr/>
          <p:nvPr/>
        </p:nvSpPr>
        <p:spPr>
          <a:xfrm>
            <a:off x="683568" y="6381328"/>
            <a:ext cx="417646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49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111416" y="1268760"/>
            <a:ext cx="8911440" cy="5242867"/>
          </a:xfrm>
        </p:spPr>
        <p:txBody>
          <a:bodyPr>
            <a:noAutofit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3: Firms react to info primary to update tech beliefs or expected risks?</a:t>
            </a:r>
            <a:endParaRPr lang="en-US" sz="1900" dirty="0">
              <a:solidFill>
                <a:schemeClr val="tx1">
                  <a:lumMod val="50000"/>
                  <a:lumOff val="50000"/>
                </a:schemeClr>
              </a:solidFill>
              <a:latin typeface="Palatino Linotype" panose="02040502050505030304" pitchFamily="18" charset="0"/>
            </a:endParaRPr>
          </a:p>
          <a:p>
            <a:pPr lvl="1"/>
            <a:r>
              <a:rPr 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learning on (supply-side) </a:t>
            </a:r>
            <a:r>
              <a:rPr lang="en-US" sz="19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technical feasibility/safety of product markets</a:t>
            </a:r>
            <a:r>
              <a:rPr 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, or</a:t>
            </a:r>
          </a:p>
          <a:p>
            <a:pPr lvl="1"/>
            <a:r>
              <a:rPr 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learning on (demand-side) </a:t>
            </a:r>
            <a:r>
              <a:rPr lang="en-US" sz="19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downstream user/investor shifts and liability risks</a:t>
            </a:r>
          </a:p>
          <a:p>
            <a:pPr lvl="1"/>
            <a:r>
              <a:rPr lang="en-US" sz="1900" dirty="0">
                <a:solidFill>
                  <a:schemeClr val="accent1"/>
                </a:solidFill>
                <a:latin typeface="Palatino Linotype" panose="02040502050505030304" pitchFamily="18" charset="0"/>
              </a:rPr>
              <a:t>spillover results -&gt; tech info; substitutability results -&gt; demand. Policy implications differ – if mainly via D, </a:t>
            </a:r>
            <a:r>
              <a:rPr lang="en-US" sz="1900" dirty="0" err="1">
                <a:solidFill>
                  <a:schemeClr val="accent1"/>
                </a:solidFill>
                <a:latin typeface="Palatino Linotype" panose="02040502050505030304" pitchFamily="18" charset="0"/>
              </a:rPr>
              <a:t>nega</a:t>
            </a:r>
            <a:r>
              <a:rPr lang="en-US" sz="1900" dirty="0">
                <a:solidFill>
                  <a:schemeClr val="accent1"/>
                </a:solidFill>
                <a:latin typeface="Palatino Linotype" panose="02040502050505030304" pitchFamily="18" charset="0"/>
              </a:rPr>
              <a:t> info can kill viable tech. </a:t>
            </a:r>
            <a:r>
              <a:rPr lang="en-US" sz="1900" b="1" u="sng" dirty="0">
                <a:solidFill>
                  <a:schemeClr val="accent1"/>
                </a:solidFill>
                <a:latin typeface="Palatino Linotype" panose="02040502050505030304" pitchFamily="18" charset="0"/>
              </a:rPr>
              <a:t>Ideas</a:t>
            </a:r>
            <a:r>
              <a:rPr lang="en-US" sz="1900" dirty="0">
                <a:solidFill>
                  <a:schemeClr val="accent1"/>
                </a:solidFill>
                <a:latin typeface="Palatino Linotype" panose="02040502050505030304" pitchFamily="18" charset="0"/>
              </a:rPr>
              <a:t>: (1) whether effects differ for physician-driven vs consumer-facing devices, (2) whether innovation drops more when ASR reveals new types of issues.</a:t>
            </a:r>
          </a:p>
          <a:p>
            <a:pPr lvl="1"/>
            <a:endParaRPr lang="en-US" sz="1600" dirty="0">
              <a:solidFill>
                <a:schemeClr val="accent1"/>
              </a:solidFill>
              <a:latin typeface="Palatino Linotype" panose="02040502050505030304" pitchFamily="18" charset="0"/>
            </a:endParaRPr>
          </a:p>
          <a:p>
            <a:r>
              <a:rPr lang="en-US" dirty="0">
                <a:latin typeface="Palatino Linotype" panose="02040502050505030304" pitchFamily="18" charset="0"/>
              </a:rPr>
              <a:t>4: Therapeutic (diff tech) v. technological (similar tech, diff use) substitutes</a:t>
            </a:r>
          </a:p>
          <a:p>
            <a:pPr lvl="1"/>
            <a:r>
              <a:rPr 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Already very information in the fine product-codes level analyses </a:t>
            </a:r>
            <a:endParaRPr lang="en-US" sz="1700" dirty="0">
              <a:solidFill>
                <a:schemeClr val="tx1">
                  <a:lumMod val="50000"/>
                  <a:lumOff val="50000"/>
                </a:schemeClr>
              </a:solidFill>
              <a:latin typeface="Palatino Linotype" panose="02040502050505030304" pitchFamily="18" charset="0"/>
            </a:endParaRPr>
          </a:p>
          <a:p>
            <a:pPr lvl="1"/>
            <a:r>
              <a:rPr lang="en-US" sz="1900" b="1" u="sng" dirty="0">
                <a:solidFill>
                  <a:schemeClr val="accent1"/>
                </a:solidFill>
                <a:latin typeface="Palatino Linotype" panose="02040502050505030304" pitchFamily="18" charset="0"/>
              </a:rPr>
              <a:t>Ideas</a:t>
            </a:r>
            <a:r>
              <a:rPr lang="en-US" sz="1900" dirty="0">
                <a:solidFill>
                  <a:schemeClr val="accent1"/>
                </a:solidFill>
                <a:latin typeface="Palatino Linotype" panose="02040502050505030304" pitchFamily="18" charset="0"/>
              </a:rPr>
              <a:t>: would we see more muted reactions in med conditions with limited therapeutic substitutes? Can potentially tie this with PMA subsample. </a:t>
            </a:r>
          </a:p>
          <a:p>
            <a:pPr lvl="1"/>
            <a:endParaRPr lang="en-US" sz="1600" dirty="0">
              <a:solidFill>
                <a:schemeClr val="accent1"/>
              </a:solidFill>
              <a:latin typeface="Palatino Linotype" panose="02040502050505030304" pitchFamily="18" charset="0"/>
            </a:endParaRPr>
          </a:p>
          <a:p>
            <a:r>
              <a:rPr lang="en-US" dirty="0">
                <a:latin typeface="Palatino Linotype" panose="02040502050505030304" pitchFamily="18" charset="0"/>
              </a:rPr>
              <a:t>5: Overall welfare implications: net of “lower quantity, but higher quality”</a:t>
            </a:r>
            <a:endParaRPr lang="en-US" sz="1700" dirty="0">
              <a:solidFill>
                <a:schemeClr val="tx1">
                  <a:lumMod val="50000"/>
                  <a:lumOff val="50000"/>
                </a:schemeClr>
              </a:solidFill>
              <a:latin typeface="Palatino Linotype" panose="02040502050505030304" pitchFamily="18" charset="0"/>
            </a:endParaRPr>
          </a:p>
          <a:p>
            <a:pPr lvl="1"/>
            <a:r>
              <a:rPr lang="en-US" sz="1900" dirty="0">
                <a:solidFill>
                  <a:schemeClr val="accent1"/>
                </a:solidFill>
                <a:latin typeface="Palatino Linotype" panose="02040502050505030304" pitchFamily="18" charset="0"/>
              </a:rPr>
              <a:t>Is there post-market safety improvement in health outcomes (fewer AEs)?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7C7C89-7075-88E7-6875-4B1AD59F906A}"/>
              </a:ext>
            </a:extLst>
          </p:cNvPr>
          <p:cNvSpPr txBox="1">
            <a:spLocks/>
          </p:cNvSpPr>
          <p:nvPr/>
        </p:nvSpPr>
        <p:spPr>
          <a:xfrm>
            <a:off x="165872" y="260648"/>
            <a:ext cx="8856984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14A8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dirty="0">
                <a:latin typeface="Palatino Linotype" panose="02040502050505030304" pitchFamily="18" charset="0"/>
              </a:rPr>
              <a:t>Decompose mechanisms: D/S, (partial) info </a:t>
            </a:r>
            <a:endParaRPr lang="en-US" sz="3400" i="1" u="sng" dirty="0">
              <a:latin typeface="Palatino Linotype" panose="0204050205050503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CD8526-D7BE-4BCC-3039-51C78E49AFFA}"/>
              </a:ext>
            </a:extLst>
          </p:cNvPr>
          <p:cNvSpPr/>
          <p:nvPr/>
        </p:nvSpPr>
        <p:spPr>
          <a:xfrm>
            <a:off x="683568" y="6381328"/>
            <a:ext cx="417646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4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>
                <a:latin typeface="Palatino Linotype" panose="02040502050505030304" pitchFamily="18" charset="0"/>
              </a:rPr>
              <a:t>Minor suggestions/future extensions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145605" y="1306860"/>
            <a:ext cx="8836470" cy="5210404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Palatino Linotype" panose="02040502050505030304" pitchFamily="18" charset="0"/>
              </a:rPr>
              <a:t>Current specification uses log(Y+1) as Dept Var., worth robustness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With highly skewed data (lots of 0s), check w/ levels (Y) or count data models</a:t>
            </a:r>
          </a:p>
          <a:p>
            <a:endParaRPr lang="en-US" sz="1600" dirty="0">
              <a:latin typeface="Palatino Linotype" panose="02040502050505030304" pitchFamily="18" charset="0"/>
            </a:endParaRPr>
          </a:p>
          <a:p>
            <a:r>
              <a:rPr lang="en-US" sz="2200" dirty="0">
                <a:latin typeface="Palatino Linotype" panose="02040502050505030304" pitchFamily="18" charset="0"/>
              </a:rPr>
              <a:t>Framing of diff types of innovation: device application vs patents</a:t>
            </a:r>
            <a:endParaRPr lang="en-US" dirty="0">
              <a:latin typeface="Palatino Linotype" panose="02040502050505030304" pitchFamily="18" charset="0"/>
            </a:endParaRP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alatino Linotype" panose="02040502050505030304" pitchFamily="18" charset="0"/>
              </a:rPr>
              <a:t>Device application is more market-facing (R&amp;D output) vs patents (upstream)</a:t>
            </a:r>
          </a:p>
          <a:p>
            <a:endParaRPr lang="en-US" sz="1600" dirty="0">
              <a:latin typeface="Palatino Linotype" panose="02040502050505030304" pitchFamily="18" charset="0"/>
            </a:endParaRPr>
          </a:p>
          <a:p>
            <a:r>
              <a:rPr lang="en-US" sz="2200" dirty="0">
                <a:latin typeface="Palatino Linotype" panose="02040502050505030304" pitchFamily="18" charset="0"/>
              </a:rPr>
              <a:t>Welfare nuances on short-run market exit and entry deterrence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alatino Linotype" panose="02040502050505030304" pitchFamily="18" charset="0"/>
              </a:rPr>
              <a:t>#firms drop by incumbent exit can be efficient-enhancing if “bad” firms leave</a:t>
            </a:r>
          </a:p>
          <a:p>
            <a:pPr marL="0" indent="0">
              <a:buNone/>
            </a:pPr>
            <a:endParaRPr lang="en-US" sz="1600" dirty="0">
              <a:latin typeface="Palatino Linotype" panose="02040502050505030304" pitchFamily="18" charset="0"/>
            </a:endParaRPr>
          </a:p>
          <a:p>
            <a:r>
              <a:rPr lang="en-US" sz="2200" dirty="0">
                <a:latin typeface="Palatino Linotype" panose="02040502050505030304" pitchFamily="18" charset="0"/>
              </a:rPr>
              <a:t>Heterogeneity by firm size or scope: does market structure matter?</a:t>
            </a:r>
            <a:endParaRPr lang="en-US" sz="1450" dirty="0">
              <a:solidFill>
                <a:schemeClr val="bg1">
                  <a:lumMod val="50000"/>
                </a:schemeClr>
              </a:solidFill>
              <a:latin typeface="Palatino Linotype" panose="02040502050505030304" pitchFamily="18" charset="0"/>
            </a:endParaRP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alatino Linotype" panose="02040502050505030304" pitchFamily="18" charset="0"/>
              </a:rPr>
              <a:t>Subsample analysis or a brief discussion would be informative </a:t>
            </a:r>
          </a:p>
          <a:p>
            <a:endParaRPr lang="en-US" sz="1600" dirty="0">
              <a:latin typeface="Palatino Linotype" panose="02040502050505030304" pitchFamily="18" charset="0"/>
            </a:endParaRPr>
          </a:p>
          <a:p>
            <a:r>
              <a:rPr lang="en-US" sz="2200" dirty="0">
                <a:latin typeface="Palatino Linotype" panose="02040502050505030304" pitchFamily="18" charset="0"/>
              </a:rPr>
              <a:t>Potential robustness at a more aggregated product market level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Palatino Linotype" panose="02040502050505030304" pitchFamily="18" charset="0"/>
            </a:endParaRP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alatino Linotype" panose="02040502050505030304" pitchFamily="18" charset="0"/>
              </a:rPr>
              <a:t>ASR covered 12 -&gt; 102 product markets, is it too fine for users? Maybe clarify.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E743F0-E413-7408-FBB9-3FA8B0499A58}"/>
              </a:ext>
            </a:extLst>
          </p:cNvPr>
          <p:cNvSpPr/>
          <p:nvPr/>
        </p:nvSpPr>
        <p:spPr>
          <a:xfrm>
            <a:off x="683568" y="6381328"/>
            <a:ext cx="417646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54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>
                <a:latin typeface="Palatino Linotype" panose="02040502050505030304" pitchFamily="18" charset="0"/>
              </a:rPr>
              <a:t>Final thoughts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328861" y="1671499"/>
            <a:ext cx="8568952" cy="4248472"/>
          </a:xfrm>
        </p:spPr>
        <p:txBody>
          <a:bodyPr>
            <a:normAutofit/>
          </a:bodyPr>
          <a:lstStyle/>
          <a:p>
            <a:r>
              <a:rPr lang="en-US" sz="2300" dirty="0">
                <a:latin typeface="Palatino Linotype" panose="02040502050505030304" pitchFamily="18" charset="0"/>
              </a:rPr>
              <a:t>Very interesting topic, lots of food for thought</a:t>
            </a:r>
          </a:p>
          <a:p>
            <a:endParaRPr lang="en-US" sz="2300" dirty="0">
              <a:latin typeface="Palatino Linotype" panose="02040502050505030304" pitchFamily="18" charset="0"/>
            </a:endParaRPr>
          </a:p>
          <a:p>
            <a:r>
              <a:rPr lang="en-US" sz="2300" dirty="0">
                <a:latin typeface="Palatino Linotype" panose="02040502050505030304" pitchFamily="18" charset="0"/>
              </a:rPr>
              <a:t>Key takeaway: a large, historical disclosure of negative information reduces market-facing innovation, and shifted R&amp;D effort into more safter, high-quality (yet less novel) areas </a:t>
            </a:r>
          </a:p>
          <a:p>
            <a:endParaRPr lang="en-US" sz="2300" dirty="0">
              <a:latin typeface="Palatino Linotype" panose="02040502050505030304" pitchFamily="18" charset="0"/>
            </a:endParaRPr>
          </a:p>
          <a:p>
            <a:r>
              <a:rPr lang="en-US" sz="2300" dirty="0">
                <a:latin typeface="Palatino Linotype" panose="02040502050505030304" pitchFamily="18" charset="0"/>
              </a:rPr>
              <a:t>Main thoughts: would be nice to explore mechanism decomp. &amp; overall welfare using the already v rich institutional details</a:t>
            </a:r>
            <a:endParaRPr lang="en-US" sz="2300" dirty="0">
              <a:highlight>
                <a:srgbClr val="FFFF00"/>
              </a:highlight>
              <a:latin typeface="Palatino Linotype" panose="02040502050505030304" pitchFamily="18" charset="0"/>
            </a:endParaRPr>
          </a:p>
          <a:p>
            <a:endParaRPr lang="en-US" sz="2300" dirty="0">
              <a:latin typeface="Palatino Linotype" panose="02040502050505030304" pitchFamily="18" charset="0"/>
            </a:endParaRPr>
          </a:p>
          <a:p>
            <a:r>
              <a:rPr lang="en-US" sz="2300" dirty="0">
                <a:latin typeface="Palatino Linotype" panose="02040502050505030304" pitchFamily="18" charset="0"/>
              </a:rPr>
              <a:t>Very cool topic. Looking forward to a new version!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531602-8030-4DD0-DE33-7FC11C87B2E3}"/>
              </a:ext>
            </a:extLst>
          </p:cNvPr>
          <p:cNvSpPr/>
          <p:nvPr/>
        </p:nvSpPr>
        <p:spPr>
          <a:xfrm>
            <a:off x="683568" y="6381328"/>
            <a:ext cx="417646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96098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6961</TotalTime>
  <Words>864</Words>
  <Application>Microsoft Office PowerPoint</Application>
  <PresentationFormat>On-screen Show (4:3)</PresentationFormat>
  <Paragraphs>78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Palatino Linotype</vt:lpstr>
      <vt:lpstr>PT Sans</vt:lpstr>
      <vt:lpstr>Times New Roman</vt:lpstr>
      <vt:lpstr>Larissa</vt:lpstr>
      <vt:lpstr>Negative Product Disclosure and Innovation</vt:lpstr>
      <vt:lpstr>Main message and contribution</vt:lpstr>
      <vt:lpstr>The hidden dangers in medical devices</vt:lpstr>
      <vt:lpstr>Institutional setting: info/risk class nuances</vt:lpstr>
      <vt:lpstr>PowerPoint Presentation</vt:lpstr>
      <vt:lpstr>Minor suggestions/future extensions</vt:lpstr>
      <vt:lpstr>Final thoughts</vt:lpstr>
    </vt:vector>
  </TitlesOfParts>
  <Company>MPI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Lendle Sarah</dc:creator>
  <cp:lastModifiedBy>Lucy Xiaolu Wang</cp:lastModifiedBy>
  <cp:revision>612</cp:revision>
  <dcterms:created xsi:type="dcterms:W3CDTF">2018-05-02T08:16:08Z</dcterms:created>
  <dcterms:modified xsi:type="dcterms:W3CDTF">2026-01-02T21:56:50Z</dcterms:modified>
</cp:coreProperties>
</file>