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9" r:id="rId4"/>
    <p:sldId id="270" r:id="rId5"/>
    <p:sldId id="263" r:id="rId6"/>
    <p:sldId id="262" r:id="rId7"/>
  </p:sldIdLst>
  <p:sldSz cx="9144000" cy="6858000" type="screen4x3"/>
  <p:notesSz cx="6669088" cy="987266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8989"/>
    <a:srgbClr val="D9D9D9"/>
    <a:srgbClr val="E3E3E3"/>
    <a:srgbClr val="CCCDCC"/>
    <a:srgbClr val="636463"/>
    <a:srgbClr val="014A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14"/>
    <p:restoredTop sz="95097" autoAdjust="0"/>
  </p:normalViewPr>
  <p:slideViewPr>
    <p:cSldViewPr>
      <p:cViewPr varScale="1">
        <p:scale>
          <a:sx n="79" d="100"/>
          <a:sy n="79" d="100"/>
        </p:scale>
        <p:origin x="1555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8250" y="0"/>
            <a:ext cx="288925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1C9504-5B5B-4460-B400-B8FEE626B4E7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2838" y="1233488"/>
            <a:ext cx="4443412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750" y="4751388"/>
            <a:ext cx="5335588" cy="38877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63"/>
            <a:ext cx="288925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8250" y="9377363"/>
            <a:ext cx="288925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DD6F79-3CFE-4B91-B8E5-01631F5C1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40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392400" y="4077072"/>
            <a:ext cx="8352928" cy="8400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3200" b="1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subtitle</a:t>
            </a:r>
            <a:endParaRPr lang="de-DE" dirty="0"/>
          </a:p>
        </p:txBody>
      </p:sp>
      <p:sp>
        <p:nvSpPr>
          <p:cNvPr id="9" name="Rechteck 8"/>
          <p:cNvSpPr/>
          <p:nvPr userDrawn="1"/>
        </p:nvSpPr>
        <p:spPr>
          <a:xfrm>
            <a:off x="-4073" y="6124800"/>
            <a:ext cx="9148073" cy="74880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PT Sans" panose="020B0503020203020204" pitchFamily="34" charset="0"/>
            </a:endParaRPr>
          </a:p>
        </p:txBody>
      </p:sp>
      <p:sp>
        <p:nvSpPr>
          <p:cNvPr id="10" name="Fußzeilenplatzhalter 23"/>
          <p:cNvSpPr>
            <a:spLocks noGrp="1"/>
          </p:cNvSpPr>
          <p:nvPr>
            <p:ph type="ftr" sz="quarter" idx="3"/>
          </p:nvPr>
        </p:nvSpPr>
        <p:spPr>
          <a:xfrm>
            <a:off x="187199" y="6314909"/>
            <a:ext cx="4382763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rgbClr val="636463"/>
                </a:solidFill>
                <a:latin typeface="+mn-lt"/>
              </a:defRPr>
            </a:lvl1pPr>
          </a:lstStyle>
          <a:p>
            <a:r>
              <a:rPr lang="de-DE" dirty="0"/>
              <a:t>Date| Event/Conference/Seminar| Location</a:t>
            </a:r>
          </a:p>
        </p:txBody>
      </p:sp>
      <p:sp>
        <p:nvSpPr>
          <p:cNvPr id="11" name="Foliennummernplatzhalter 24"/>
          <p:cNvSpPr>
            <a:spLocks noGrp="1"/>
          </p:cNvSpPr>
          <p:nvPr>
            <p:ph type="sldNum" sz="quarter" idx="4"/>
          </p:nvPr>
        </p:nvSpPr>
        <p:spPr>
          <a:xfrm>
            <a:off x="6804000" y="6326401"/>
            <a:ext cx="19440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rgbClr val="636463"/>
                </a:solidFill>
                <a:latin typeface="+mn-lt"/>
              </a:defRPr>
            </a:lvl1pPr>
          </a:lstStyle>
          <a:p>
            <a:r>
              <a:rPr lang="de-DE" dirty="0"/>
              <a:t>Speaker</a:t>
            </a:r>
          </a:p>
        </p:txBody>
      </p:sp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92400" y="2844000"/>
            <a:ext cx="8352928" cy="1176131"/>
          </a:xfrm>
          <a:prstGeom prst="rect">
            <a:avLst/>
          </a:prstGeom>
        </p:spPr>
        <p:txBody>
          <a:bodyPr anchor="t">
            <a:normAutofit/>
          </a:bodyPr>
          <a:lstStyle>
            <a:lvl1pPr algn="ctr">
              <a:defRPr sz="3600" b="1" cap="none">
                <a:solidFill>
                  <a:srgbClr val="014A8F"/>
                </a:solidFill>
                <a:latin typeface="+mn-lt"/>
              </a:defRPr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title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de-DE" dirty="0"/>
          </a:p>
        </p:txBody>
      </p:sp>
      <p:pic>
        <p:nvPicPr>
          <p:cNvPr id="15" name="Picture 2" descr="C:\Users\lens\Desktop\Logo_MPI-IW_englisch_negativ_300dpi.jp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4570469" cy="159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6830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title style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0FFE64-384B-44F1-B562-E01D9106D3C3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 userDrawn="1"/>
        </p:nvCxnSpPr>
        <p:spPr>
          <a:xfrm>
            <a:off x="457200" y="1087200"/>
            <a:ext cx="8244000" cy="0"/>
          </a:xfrm>
          <a:prstGeom prst="line">
            <a:avLst/>
          </a:prstGeom>
          <a:ln w="25400">
            <a:solidFill>
              <a:srgbClr val="014A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457200" y="1196752"/>
            <a:ext cx="8244000" cy="32403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898989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subtitle</a:t>
            </a:r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1628800"/>
            <a:ext cx="8244000" cy="4536504"/>
          </a:xfrm>
        </p:spPr>
        <p:txBody>
          <a:bodyPr/>
          <a:lstStyle/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styles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Name of speaker and/or topic of presentation etc.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58521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0FFE64-384B-44F1-B562-E01D9106D3C3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title style</a:t>
            </a:r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457200" y="1087200"/>
            <a:ext cx="8244000" cy="0"/>
          </a:xfrm>
          <a:prstGeom prst="line">
            <a:avLst/>
          </a:prstGeom>
          <a:ln w="25400">
            <a:solidFill>
              <a:srgbClr val="014A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platzhalt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1195200"/>
            <a:ext cx="8244000" cy="4970104"/>
          </a:xfrm>
        </p:spPr>
        <p:txBody>
          <a:bodyPr/>
          <a:lstStyle/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styles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Name of speaker and/or topic of presentation etc.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00569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6510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styles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6510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styles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0FFE64-384B-44F1-B562-E01D9106D3C3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title style</a:t>
            </a:r>
          </a:p>
        </p:txBody>
      </p:sp>
      <p:cxnSp>
        <p:nvCxnSpPr>
          <p:cNvPr id="11" name="Gerade Verbindung 10"/>
          <p:cNvCxnSpPr/>
          <p:nvPr userDrawn="1"/>
        </p:nvCxnSpPr>
        <p:spPr>
          <a:xfrm>
            <a:off x="457200" y="1087200"/>
            <a:ext cx="8244000" cy="0"/>
          </a:xfrm>
          <a:prstGeom prst="line">
            <a:avLst/>
          </a:prstGeom>
          <a:ln w="25400">
            <a:solidFill>
              <a:srgbClr val="014A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Untertitel 2"/>
          <p:cNvSpPr>
            <a:spLocks noGrp="1"/>
          </p:cNvSpPr>
          <p:nvPr>
            <p:ph type="subTitle" idx="12" hasCustomPrompt="1"/>
          </p:nvPr>
        </p:nvSpPr>
        <p:spPr>
          <a:xfrm>
            <a:off x="457200" y="1196752"/>
            <a:ext cx="4039200" cy="32403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2000" b="1">
                <a:solidFill>
                  <a:srgbClr val="898989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subtitle</a:t>
            </a:r>
            <a:endParaRPr lang="de-DE" dirty="0"/>
          </a:p>
        </p:txBody>
      </p:sp>
      <p:sp>
        <p:nvSpPr>
          <p:cNvPr id="15" name="Textplatzhalt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4662000" y="1196752"/>
            <a:ext cx="4039200" cy="324000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lang="de-DE" sz="2000" b="1" kern="1200" dirty="0">
                <a:solidFill>
                  <a:srgbClr val="898989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subtitle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Name of speaker and/or topic of presentation etc.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02021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57200" y="1195200"/>
            <a:ext cx="4038600" cy="497010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styles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648200" y="1195200"/>
            <a:ext cx="4038600" cy="497010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styles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0FFE64-384B-44F1-B562-E01D9106D3C3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title style</a:t>
            </a:r>
          </a:p>
        </p:txBody>
      </p:sp>
      <p:cxnSp>
        <p:nvCxnSpPr>
          <p:cNvPr id="11" name="Gerade Verbindung 10"/>
          <p:cNvCxnSpPr/>
          <p:nvPr userDrawn="1"/>
        </p:nvCxnSpPr>
        <p:spPr>
          <a:xfrm>
            <a:off x="457200" y="1087200"/>
            <a:ext cx="8244000" cy="0"/>
          </a:xfrm>
          <a:prstGeom prst="line">
            <a:avLst/>
          </a:prstGeom>
          <a:ln w="25400">
            <a:solidFill>
              <a:srgbClr val="014A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Name of speaker and/or topic of presentation etc.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47733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57200" y="2204864"/>
            <a:ext cx="3178696" cy="396193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styles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779912" y="1195200"/>
            <a:ext cx="4906888" cy="497010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styles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0FFE64-384B-44F1-B562-E01D9106D3C3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title style</a:t>
            </a:r>
          </a:p>
        </p:txBody>
      </p:sp>
      <p:cxnSp>
        <p:nvCxnSpPr>
          <p:cNvPr id="11" name="Gerade Verbindung 10"/>
          <p:cNvCxnSpPr/>
          <p:nvPr userDrawn="1"/>
        </p:nvCxnSpPr>
        <p:spPr>
          <a:xfrm>
            <a:off x="457200" y="1087200"/>
            <a:ext cx="8244000" cy="0"/>
          </a:xfrm>
          <a:prstGeom prst="line">
            <a:avLst/>
          </a:prstGeom>
          <a:ln w="25400">
            <a:solidFill>
              <a:srgbClr val="014A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Untertitel 2"/>
          <p:cNvSpPr>
            <a:spLocks noGrp="1"/>
          </p:cNvSpPr>
          <p:nvPr>
            <p:ph type="subTitle" idx="12" hasCustomPrompt="1"/>
          </p:nvPr>
        </p:nvSpPr>
        <p:spPr>
          <a:xfrm>
            <a:off x="457200" y="1196752"/>
            <a:ext cx="3178696" cy="86409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rgbClr val="898989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subtitle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Name of speaker and/or topic of presentation etc.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13499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57200" y="1196752"/>
            <a:ext cx="3178696" cy="49700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styles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779912" y="1195200"/>
            <a:ext cx="4906888" cy="497010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styles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0FFE64-384B-44F1-B562-E01D9106D3C3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title style</a:t>
            </a:r>
          </a:p>
        </p:txBody>
      </p:sp>
      <p:cxnSp>
        <p:nvCxnSpPr>
          <p:cNvPr id="11" name="Gerade Verbindung 10"/>
          <p:cNvCxnSpPr/>
          <p:nvPr userDrawn="1"/>
        </p:nvCxnSpPr>
        <p:spPr>
          <a:xfrm>
            <a:off x="457200" y="1087200"/>
            <a:ext cx="8244000" cy="0"/>
          </a:xfrm>
          <a:prstGeom prst="line">
            <a:avLst/>
          </a:prstGeom>
          <a:ln w="25400">
            <a:solidFill>
              <a:srgbClr val="014A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Name of speaker and/or topic of presentation etc.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30574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5522504" y="2206800"/>
            <a:ext cx="3178696" cy="3963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styles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61516" y="1196752"/>
            <a:ext cx="4906888" cy="497010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styles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0FFE64-384B-44F1-B562-E01D9106D3C3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title style</a:t>
            </a:r>
          </a:p>
        </p:txBody>
      </p:sp>
      <p:cxnSp>
        <p:nvCxnSpPr>
          <p:cNvPr id="11" name="Gerade Verbindung 10"/>
          <p:cNvCxnSpPr/>
          <p:nvPr userDrawn="1"/>
        </p:nvCxnSpPr>
        <p:spPr>
          <a:xfrm>
            <a:off x="457200" y="1087200"/>
            <a:ext cx="8244000" cy="0"/>
          </a:xfrm>
          <a:prstGeom prst="line">
            <a:avLst/>
          </a:prstGeom>
          <a:ln w="25400">
            <a:solidFill>
              <a:srgbClr val="014A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508625" y="1195200"/>
            <a:ext cx="3167063" cy="864000"/>
          </a:xfrm>
        </p:spPr>
        <p:txBody>
          <a:bodyPr anchor="t">
            <a:normAutofit/>
          </a:bodyPr>
          <a:lstStyle>
            <a:lvl1pPr marL="0" indent="0">
              <a:buNone/>
              <a:defRPr sz="2400" b="1" baseline="0">
                <a:solidFill>
                  <a:srgbClr val="898989"/>
                </a:solidFill>
              </a:defRPr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subtitle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Name of speaker and/or topic of presentation etc.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41201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5522504" y="1196752"/>
            <a:ext cx="3178696" cy="49700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styles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61516" y="1196752"/>
            <a:ext cx="4906888" cy="497010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styles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0FFE64-384B-44F1-B562-E01D9106D3C3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title style</a:t>
            </a:r>
          </a:p>
        </p:txBody>
      </p:sp>
      <p:cxnSp>
        <p:nvCxnSpPr>
          <p:cNvPr id="11" name="Gerade Verbindung 10"/>
          <p:cNvCxnSpPr/>
          <p:nvPr userDrawn="1"/>
        </p:nvCxnSpPr>
        <p:spPr>
          <a:xfrm>
            <a:off x="457200" y="1087200"/>
            <a:ext cx="8244000" cy="0"/>
          </a:xfrm>
          <a:prstGeom prst="line">
            <a:avLst/>
          </a:prstGeom>
          <a:ln w="25400">
            <a:solidFill>
              <a:srgbClr val="014A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Name of speaker and/or topic of presentation etc.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25540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0FFE64-384B-44F1-B562-E01D9106D3C3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2" hasCustomPrompt="1"/>
          </p:nvPr>
        </p:nvSpPr>
        <p:spPr>
          <a:xfrm>
            <a:off x="468313" y="1195200"/>
            <a:ext cx="8280400" cy="432203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(s)</a:t>
            </a:r>
          </a:p>
        </p:txBody>
      </p:sp>
      <p:cxnSp>
        <p:nvCxnSpPr>
          <p:cNvPr id="10" name="Gerade Verbindung 9"/>
          <p:cNvCxnSpPr/>
          <p:nvPr userDrawn="1"/>
        </p:nvCxnSpPr>
        <p:spPr>
          <a:xfrm>
            <a:off x="457200" y="1087200"/>
            <a:ext cx="8244000" cy="0"/>
          </a:xfrm>
          <a:prstGeom prst="line">
            <a:avLst/>
          </a:prstGeom>
          <a:ln w="25400">
            <a:solidFill>
              <a:srgbClr val="014A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661248"/>
            <a:ext cx="8291513" cy="50405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636463"/>
                </a:solidFill>
              </a:defRPr>
            </a:lvl1pPr>
          </a:lstStyle>
          <a:p>
            <a:pPr lvl="0"/>
            <a:r>
              <a:rPr lang="de-DE" dirty="0"/>
              <a:t>Caption</a:t>
            </a:r>
          </a:p>
        </p:txBody>
      </p:sp>
      <p:sp>
        <p:nvSpPr>
          <p:cNvPr id="13" name="Titel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title style</a:t>
            </a:r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 dirty="0"/>
              <a:t>Name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speaker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/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topic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r>
              <a:rPr lang="de-DE" dirty="0"/>
              <a:t> etc.</a:t>
            </a:r>
          </a:p>
        </p:txBody>
      </p:sp>
    </p:spTree>
    <p:extLst>
      <p:ext uri="{BB962C8B-B14F-4D97-AF65-F5344CB8AC3E}">
        <p14:creationId xmlns:p14="http://schemas.microsoft.com/office/powerpoint/2010/main" val="114073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0FFE64-384B-44F1-B562-E01D9106D3C3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Name of speaker and/or topic of presentation etc.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9412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title style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340768"/>
            <a:ext cx="8229600" cy="4785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styles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8" name="Rechteck 7"/>
          <p:cNvSpPr/>
          <p:nvPr userDrawn="1"/>
        </p:nvSpPr>
        <p:spPr>
          <a:xfrm>
            <a:off x="1" y="6318000"/>
            <a:ext cx="9144000" cy="540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+mn-lt"/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716016" y="6453336"/>
            <a:ext cx="3528392" cy="273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636463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de-DE" dirty="0"/>
              <a:t>Name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speaker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/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topic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r>
              <a:rPr lang="de-DE" dirty="0"/>
              <a:t> etc.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316416" y="6457866"/>
            <a:ext cx="376208" cy="273600"/>
          </a:xfrm>
          <a:prstGeom prst="rect">
            <a:avLst/>
          </a:prstGeom>
        </p:spPr>
        <p:txBody>
          <a:bodyPr vert="horz" lIns="46800" tIns="45720" rIns="46800" bIns="45720" rtlCol="0" anchor="ctr"/>
          <a:lstStyle>
            <a:lvl1pPr algn="r">
              <a:defRPr sz="1100">
                <a:solidFill>
                  <a:srgbClr val="636463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fld id="{730FFE64-384B-44F1-B562-E01D9106D3C3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600" y="6354000"/>
            <a:ext cx="476672" cy="476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ußzeilenplatzhalter 4"/>
          <p:cNvSpPr txBox="1">
            <a:spLocks/>
          </p:cNvSpPr>
          <p:nvPr userDrawn="1"/>
        </p:nvSpPr>
        <p:spPr>
          <a:xfrm>
            <a:off x="611560" y="6325200"/>
            <a:ext cx="4104456" cy="532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rgbClr val="63646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Planck Institute </a:t>
            </a:r>
            <a:r>
              <a:rPr lang="de-DE" sz="14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de-DE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Innovation </a:t>
            </a:r>
            <a:r>
              <a:rPr lang="de-DE" sz="14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de-DE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14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Competition</a:t>
            </a:r>
            <a:endParaRPr lang="de-DE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433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9" r:id="rId3"/>
    <p:sldLayoutId id="2147483652" r:id="rId4"/>
    <p:sldLayoutId id="2147483662" r:id="rId5"/>
    <p:sldLayoutId id="2147483663" r:id="rId6"/>
    <p:sldLayoutId id="2147483665" r:id="rId7"/>
    <p:sldLayoutId id="2147483668" r:id="rId8"/>
    <p:sldLayoutId id="2147483667" r:id="rId9"/>
    <p:sldLayoutId id="2147483654" r:id="rId10"/>
    <p:sldLayoutId id="2147483660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rgbClr val="014A8F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4294967295"/>
          </p:nvPr>
        </p:nvSpPr>
        <p:spPr>
          <a:xfrm>
            <a:off x="199566" y="3107156"/>
            <a:ext cx="8744867" cy="380266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Ginger Zhe Jin</a:t>
            </a:r>
            <a:r>
              <a:rPr lang="de-DE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1  </a:t>
            </a:r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Hsienming Lien</a:t>
            </a:r>
            <a:r>
              <a:rPr lang="de-DE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2</a:t>
            </a:r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  Xuezhen Tao</a:t>
            </a:r>
            <a:r>
              <a:rPr lang="de-DE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3</a:t>
            </a:r>
            <a:endParaRPr lang="de-DE" dirty="0">
              <a:solidFill>
                <a:schemeClr val="tx1">
                  <a:lumMod val="95000"/>
                  <a:lumOff val="5000"/>
                </a:schemeClr>
              </a:solidFill>
              <a:latin typeface="Palatino Linotype" panose="02040502050505030304" pitchFamily="18" charset="0"/>
            </a:endParaRPr>
          </a:p>
          <a:p>
            <a:pPr marL="0" indent="0" algn="ctr">
              <a:buNone/>
            </a:pPr>
            <a:endParaRPr lang="de-DE" sz="1700" dirty="0">
              <a:solidFill>
                <a:schemeClr val="tx1">
                  <a:lumMod val="95000"/>
                  <a:lumOff val="5000"/>
                </a:schemeClr>
              </a:solidFill>
              <a:latin typeface="Palatino Linotype" panose="02040502050505030304" pitchFamily="18" charset="0"/>
            </a:endParaRPr>
          </a:p>
          <a:p>
            <a:pPr marL="0" indent="0" algn="ctr">
              <a:buNone/>
            </a:pPr>
            <a:r>
              <a:rPr lang="de-DE" sz="180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1</a:t>
            </a:r>
            <a:r>
              <a:rPr lang="de-DE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 University of Maryland &amp; NBER  </a:t>
            </a:r>
          </a:p>
          <a:p>
            <a:pPr marL="0" indent="0" algn="ctr">
              <a:buNone/>
            </a:pPr>
            <a:r>
              <a:rPr lang="de-DE" sz="180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2</a:t>
            </a:r>
            <a:r>
              <a:rPr lang="de-DE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 National Chengchi University &amp; CIER</a:t>
            </a:r>
          </a:p>
          <a:p>
            <a:pPr marL="0" indent="0" algn="ctr">
              <a:buNone/>
            </a:pPr>
            <a:r>
              <a:rPr lang="de-DE" sz="180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3</a:t>
            </a:r>
            <a:r>
              <a:rPr lang="de-DE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alatino Linotype" panose="02040502050505030304" pitchFamily="18" charset="0"/>
              </a:rPr>
              <a:t> Shanghai University of Finance and Economics</a:t>
            </a:r>
          </a:p>
          <a:p>
            <a:pPr marL="0" indent="0" algn="ctr">
              <a:buNone/>
            </a:pPr>
            <a:endParaRPr lang="de-DE" sz="1600" dirty="0">
              <a:solidFill>
                <a:schemeClr val="tx1">
                  <a:lumMod val="95000"/>
                  <a:lumOff val="5000"/>
                </a:schemeClr>
              </a:solidFill>
              <a:latin typeface="Palatino Linotype" panose="02040502050505030304" pitchFamily="18" charset="0"/>
            </a:endParaRPr>
          </a:p>
          <a:p>
            <a:pPr marL="0" indent="0" algn="ctr">
              <a:buNone/>
            </a:pPr>
            <a:endParaRPr lang="de-DE" sz="1600" dirty="0">
              <a:solidFill>
                <a:schemeClr val="tx1">
                  <a:lumMod val="95000"/>
                  <a:lumOff val="5000"/>
                </a:schemeClr>
              </a:solidFill>
              <a:latin typeface="Palatino Linotype" panose="02040502050505030304" pitchFamily="18" charset="0"/>
            </a:endParaRPr>
          </a:p>
          <a:p>
            <a:pPr marL="0" indent="0" algn="ctr">
              <a:buNone/>
            </a:pPr>
            <a:r>
              <a:rPr lang="de-DE" sz="1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alatino Linotype" panose="02040502050505030304" pitchFamily="18" charset="0"/>
              </a:rPr>
              <a:t>Discussant</a:t>
            </a:r>
            <a:r>
              <a:rPr lang="de-DE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Palatino Linotype" panose="02040502050505030304" pitchFamily="18" charset="0"/>
              </a:rPr>
              <a:t>: Lucy Xiaolu Wang</a:t>
            </a:r>
          </a:p>
          <a:p>
            <a:pPr marL="0" indent="0" algn="ctr">
              <a:buNone/>
            </a:pPr>
            <a:endParaRPr lang="de-DE" sz="300" dirty="0">
              <a:solidFill>
                <a:schemeClr val="tx1">
                  <a:lumMod val="50000"/>
                  <a:lumOff val="50000"/>
                </a:schemeClr>
              </a:solidFill>
              <a:latin typeface="Palatino Linotype" panose="02040502050505030304" pitchFamily="18" charset="0"/>
            </a:endParaRPr>
          </a:p>
          <a:p>
            <a:pPr marL="0" indent="0" algn="ctr">
              <a:buNone/>
            </a:pPr>
            <a:r>
              <a:rPr lang="de-DE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alatino Linotype" panose="02040502050505030304" pitchFamily="18" charset="0"/>
              </a:rPr>
              <a:t>University of Massachusetts Amherst; MPI - innovation; CCHE</a:t>
            </a:r>
          </a:p>
          <a:p>
            <a:pPr marL="0" indent="0" algn="ctr">
              <a:buNone/>
            </a:pPr>
            <a:endParaRPr lang="de-DE" sz="1100" dirty="0">
              <a:solidFill>
                <a:schemeClr val="tx1">
                  <a:lumMod val="95000"/>
                  <a:lumOff val="5000"/>
                </a:schemeClr>
              </a:solidFill>
              <a:latin typeface="Palatino Linotype" panose="02040502050505030304" pitchFamily="18" charset="0"/>
            </a:endParaRPr>
          </a:p>
          <a:p>
            <a:pPr marL="0" indent="0" algn="ctr">
              <a:buNone/>
            </a:pPr>
            <a:r>
              <a:rPr lang="de-DE" sz="1800" dirty="0">
                <a:solidFill>
                  <a:schemeClr val="accent1">
                    <a:lumMod val="75000"/>
                  </a:schemeClr>
                </a:solidFill>
                <a:latin typeface="Palatino Linotype" panose="02040502050505030304" pitchFamily="18" charset="0"/>
              </a:rPr>
              <a:t>ASSA 2026.1.3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6053F3-DF4F-E11E-C0F3-9EBD899D88A4}"/>
              </a:ext>
            </a:extLst>
          </p:cNvPr>
          <p:cNvSpPr/>
          <p:nvPr/>
        </p:nvSpPr>
        <p:spPr>
          <a:xfrm>
            <a:off x="0" y="0"/>
            <a:ext cx="4572000" cy="16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-252536" y="1554774"/>
            <a:ext cx="9649072" cy="1108483"/>
          </a:xfrm>
        </p:spPr>
        <p:txBody>
          <a:bodyPr>
            <a:noAutofit/>
          </a:bodyPr>
          <a:lstStyle/>
          <a:p>
            <a:r>
              <a:rPr lang="en-US" sz="3000" dirty="0">
                <a:latin typeface="Palatino Linotype" panose="02040502050505030304" pitchFamily="18" charset="0"/>
              </a:rPr>
              <a:t>Diffusing Innovations Under Market Competition: Evidence from Drug-Eluting Stents</a:t>
            </a:r>
            <a:endParaRPr lang="de-DE" sz="30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458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dirty="0">
                <a:latin typeface="Palatino Linotype" panose="02040502050505030304" pitchFamily="18" charset="0"/>
              </a:rPr>
              <a:t>Main message and contribution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111416" y="1286312"/>
            <a:ext cx="8964488" cy="4896544"/>
          </a:xfrm>
        </p:spPr>
        <p:txBody>
          <a:bodyPr>
            <a:normAutofit/>
          </a:bodyPr>
          <a:lstStyle/>
          <a:p>
            <a:r>
              <a:rPr lang="en-US" sz="2300" dirty="0">
                <a:latin typeface="Palatino Linotype" charset="0"/>
                <a:ea typeface="Palatino Linotype" charset="0"/>
                <a:cs typeface="Palatino Linotype" charset="0"/>
              </a:rPr>
              <a:t>Research Q: How </a:t>
            </a:r>
            <a:r>
              <a:rPr lang="en-US" sz="2300" i="1" dirty="0">
                <a:latin typeface="Palatino Linotype" charset="0"/>
                <a:ea typeface="Palatino Linotype" charset="0"/>
                <a:cs typeface="Palatino Linotype" charset="0"/>
              </a:rPr>
              <a:t>market competition</a:t>
            </a:r>
            <a:r>
              <a:rPr lang="en-US" sz="2300" dirty="0">
                <a:latin typeface="Palatino Linotype" charset="0"/>
                <a:ea typeface="Palatino Linotype" charset="0"/>
                <a:cs typeface="Palatino Linotype" charset="0"/>
              </a:rPr>
              <a:t> and </a:t>
            </a:r>
            <a:r>
              <a:rPr lang="en-US" sz="2300" i="1" dirty="0">
                <a:latin typeface="Palatino Linotype" charset="0"/>
                <a:ea typeface="Palatino Linotype" charset="0"/>
                <a:cs typeface="Palatino Linotype" charset="0"/>
              </a:rPr>
              <a:t>reimbursement design</a:t>
            </a:r>
            <a:r>
              <a:rPr lang="en-US" sz="2300" dirty="0">
                <a:latin typeface="Palatino Linotype" charset="0"/>
                <a:ea typeface="Palatino Linotype" charset="0"/>
                <a:cs typeface="Palatino Linotype" charset="0"/>
              </a:rPr>
              <a:t> affect the diffusion of medical innovation, focus on drug-eluting stents (DES) in Taiwan</a:t>
            </a:r>
          </a:p>
          <a:p>
            <a:endParaRPr lang="en-US" sz="1400" dirty="0">
              <a:latin typeface="Palatino Linotype" charset="0"/>
              <a:ea typeface="Palatino Linotype" charset="0"/>
              <a:cs typeface="Palatino Linotype" charset="0"/>
            </a:endParaRPr>
          </a:p>
          <a:p>
            <a:r>
              <a:rPr lang="en-US" sz="2300" dirty="0">
                <a:latin typeface="Palatino Linotype" charset="0"/>
                <a:ea typeface="Palatino Linotype" charset="0"/>
                <a:cs typeface="Palatino Linotype" charset="0"/>
              </a:rPr>
              <a:t>Approach: structural model of D &amp; S, rich data &amp; counterfactuals</a:t>
            </a:r>
            <a:endParaRPr lang="en-US" dirty="0">
              <a:latin typeface="Palatino Linotype" charset="0"/>
              <a:ea typeface="Palatino Linotype" charset="0"/>
              <a:cs typeface="Palatino Linotype" charset="0"/>
            </a:endParaRPr>
          </a:p>
          <a:p>
            <a:pPr lvl="1"/>
            <a:r>
              <a:rPr 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Palatino Linotype" panose="02040502050505030304" pitchFamily="18" charset="0"/>
              </a:rPr>
              <a:t>Patient demand:  mixed logit over stent choices, rich </a:t>
            </a:r>
            <a:r>
              <a:rPr lang="en-US" sz="19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alatino Linotype" panose="02040502050505030304" pitchFamily="18" charset="0"/>
              </a:rPr>
              <a:t>r.c.</a:t>
            </a:r>
            <a:r>
              <a:rPr 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Palatino Linotype" panose="02040502050505030304" pitchFamily="18" charset="0"/>
              </a:rPr>
              <a:t> w patient char.</a:t>
            </a:r>
          </a:p>
          <a:p>
            <a:pPr lvl="1"/>
            <a:r>
              <a:rPr 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Palatino Linotype" panose="02040502050505030304" pitchFamily="18" charset="0"/>
              </a:rPr>
              <a:t>Hospital supply: two-stage game 1) stent portfolios, 2) price competition</a:t>
            </a:r>
          </a:p>
          <a:p>
            <a:pPr lvl="1"/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Palatino Linotype" charset="0"/>
              <a:ea typeface="Palatino Linotype" charset="0"/>
              <a:cs typeface="Palatino Linotype" charset="0"/>
            </a:endParaRPr>
          </a:p>
          <a:p>
            <a:r>
              <a:rPr lang="en-US" sz="2300" dirty="0">
                <a:latin typeface="Palatino Linotype" charset="0"/>
                <a:ea typeface="Palatino Linotype" charset="0"/>
                <a:cs typeface="Palatino Linotype" charset="0"/>
              </a:rPr>
              <a:t>Results: competition lowers prices, weakens new tech adoption</a:t>
            </a:r>
          </a:p>
          <a:p>
            <a:pPr lvl="1"/>
            <a:r>
              <a:rPr lang="en-US" sz="1900" i="1" dirty="0">
                <a:solidFill>
                  <a:srgbClr val="0070C0"/>
                </a:solidFill>
                <a:latin typeface="Palatino Linotype" charset="0"/>
                <a:ea typeface="Palatino Linotype" charset="0"/>
                <a:cs typeface="Palatino Linotype" charset="0"/>
              </a:rPr>
              <a:t>selective contracting</a:t>
            </a:r>
            <a:r>
              <a:rPr lang="en-US" sz="1900" dirty="0">
                <a:solidFill>
                  <a:srgbClr val="0070C0"/>
                </a:solidFill>
                <a:latin typeface="Palatino Linotype" charset="0"/>
                <a:ea typeface="Palatino Linotype" charset="0"/>
                <a:cs typeface="Palatino Linotype" charset="0"/>
              </a:rPr>
              <a:t>: quad. win </a:t>
            </a:r>
            <a:r>
              <a:rPr lang="en-US" sz="1600" dirty="0">
                <a:solidFill>
                  <a:srgbClr val="0070C0"/>
                </a:solidFill>
                <a:latin typeface="Palatino Linotype" charset="0"/>
                <a:ea typeface="Palatino Linotype" charset="0"/>
                <a:cs typeface="Palatino Linotype" charset="0"/>
              </a:rPr>
              <a:t>(</a:t>
            </a:r>
            <a:r>
              <a:rPr lang="en-US" sz="1600" dirty="0" err="1">
                <a:solidFill>
                  <a:srgbClr val="0070C0"/>
                </a:solidFill>
                <a:latin typeface="Palatino Linotype" charset="0"/>
                <a:ea typeface="Palatino Linotype" charset="0"/>
                <a:cs typeface="Palatino Linotype" charset="0"/>
              </a:rPr>
              <a:t>esp</a:t>
            </a:r>
            <a:r>
              <a:rPr lang="en-US" sz="1600" dirty="0">
                <a:solidFill>
                  <a:srgbClr val="0070C0"/>
                </a:solidFill>
                <a:latin typeface="Palatino Linotype" charset="0"/>
                <a:ea typeface="Palatino Linotype" charset="0"/>
                <a:cs typeface="Palatino Linotype" charset="0"/>
              </a:rPr>
              <a:t> concentrated)</a:t>
            </a:r>
            <a:r>
              <a:rPr lang="en-US" sz="1900" dirty="0">
                <a:solidFill>
                  <a:srgbClr val="0070C0"/>
                </a:solidFill>
                <a:latin typeface="Palatino Linotype" charset="0"/>
                <a:ea typeface="Palatino Linotype" charset="0"/>
                <a:cs typeface="Palatino Linotype" charset="0"/>
              </a:rPr>
              <a:t>; </a:t>
            </a:r>
            <a:r>
              <a:rPr lang="en-US" sz="1900" i="1" dirty="0">
                <a:solidFill>
                  <a:srgbClr val="0070C0"/>
                </a:solidFill>
                <a:latin typeface="Palatino Linotype" charset="0"/>
                <a:ea typeface="Palatino Linotype" charset="0"/>
                <a:cs typeface="Palatino Linotype" charset="0"/>
              </a:rPr>
              <a:t>higher reimbursement</a:t>
            </a:r>
            <a:r>
              <a:rPr lang="en-US" sz="1900" dirty="0">
                <a:solidFill>
                  <a:srgbClr val="0070C0"/>
                </a:solidFill>
                <a:latin typeface="Palatino Linotype" charset="0"/>
                <a:ea typeface="Palatino Linotype" charset="0"/>
                <a:cs typeface="Palatino Linotype" charset="0"/>
              </a:rPr>
              <a:t> </a:t>
            </a:r>
            <a:r>
              <a:rPr lang="en-US" sz="1900" dirty="0">
                <a:solidFill>
                  <a:srgbClr val="0070C0"/>
                </a:solidFill>
                <a:latin typeface="Assistant" panose="020F0502020204030204" pitchFamily="2" charset="-79"/>
                <a:ea typeface="Palatino Linotype" charset="0"/>
                <a:cs typeface="Assistant" panose="020F0502020204030204" pitchFamily="2" charset="-79"/>
              </a:rPr>
              <a:t>↑</a:t>
            </a:r>
            <a:r>
              <a:rPr lang="en-US" sz="1900" dirty="0">
                <a:solidFill>
                  <a:srgbClr val="0070C0"/>
                </a:solidFill>
                <a:latin typeface="Palatino Linotype" charset="0"/>
                <a:ea typeface="Palatino Linotype" charset="0"/>
                <a:cs typeface="Palatino Linotype" charset="0"/>
              </a:rPr>
              <a:t> adoption </a:t>
            </a:r>
            <a:r>
              <a:rPr lang="en-US" sz="1600" dirty="0">
                <a:solidFill>
                  <a:srgbClr val="0070C0"/>
                </a:solidFill>
                <a:latin typeface="Palatino Linotype" charset="0"/>
                <a:ea typeface="Palatino Linotype" charset="0"/>
                <a:cs typeface="Palatino Linotype" charset="0"/>
              </a:rPr>
              <a:t>(</a:t>
            </a:r>
            <a:r>
              <a:rPr lang="en-US" sz="1600" dirty="0" err="1">
                <a:solidFill>
                  <a:srgbClr val="0070C0"/>
                </a:solidFill>
                <a:latin typeface="Palatino Linotype" charset="0"/>
                <a:ea typeface="Palatino Linotype" charset="0"/>
                <a:cs typeface="Palatino Linotype" charset="0"/>
              </a:rPr>
              <a:t>esp</a:t>
            </a:r>
            <a:r>
              <a:rPr lang="en-US" sz="1600" dirty="0">
                <a:solidFill>
                  <a:srgbClr val="0070C0"/>
                </a:solidFill>
                <a:latin typeface="Palatino Linotype" charset="0"/>
                <a:ea typeface="Palatino Linotype" charset="0"/>
                <a:cs typeface="Palatino Linotype" charset="0"/>
              </a:rPr>
              <a:t> competitive) &amp; </a:t>
            </a:r>
            <a:r>
              <a:rPr lang="en-US" sz="1900" dirty="0">
                <a:solidFill>
                  <a:srgbClr val="0070C0"/>
                </a:solidFill>
                <a:latin typeface="Palatino Linotype" charset="0"/>
                <a:ea typeface="Palatino Linotype" charset="0"/>
                <a:cs typeface="Palatino Linotype" charset="0"/>
              </a:rPr>
              <a:t>fiscal costs; t</a:t>
            </a:r>
            <a:r>
              <a:rPr lang="en-US" sz="1900" i="1" dirty="0">
                <a:solidFill>
                  <a:srgbClr val="0070C0"/>
                </a:solidFill>
                <a:latin typeface="Palatino Linotype" charset="0"/>
                <a:ea typeface="Palatino Linotype" charset="0"/>
                <a:cs typeface="Palatino Linotype" charset="0"/>
              </a:rPr>
              <a:t>argeted subsidy</a:t>
            </a:r>
            <a:r>
              <a:rPr lang="en-US" sz="1900" dirty="0">
                <a:solidFill>
                  <a:srgbClr val="0070C0"/>
                </a:solidFill>
                <a:latin typeface="Palatino Linotype" charset="0"/>
                <a:ea typeface="Palatino Linotype" charset="0"/>
                <a:cs typeface="Palatino Linotype" charset="0"/>
              </a:rPr>
              <a:t>: limited spillover</a:t>
            </a:r>
          </a:p>
          <a:p>
            <a:endParaRPr lang="en-US" sz="1400" dirty="0">
              <a:latin typeface="Palatino Linotype" charset="0"/>
              <a:ea typeface="Palatino Linotype" charset="0"/>
              <a:cs typeface="Palatino Linotype" charset="0"/>
            </a:endParaRPr>
          </a:p>
          <a:p>
            <a:r>
              <a:rPr lang="en-US" sz="2300" dirty="0">
                <a:latin typeface="Palatino Linotype" charset="0"/>
                <a:ea typeface="Palatino Linotype" charset="0"/>
                <a:cs typeface="Palatino Linotype" charset="0"/>
              </a:rPr>
              <a:t>Contributes to several strands of literature in IO, innovation, insurance, contracting, …; already very polished paper!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EADC68-8D11-12FF-73E2-4724A3126492}"/>
              </a:ext>
            </a:extLst>
          </p:cNvPr>
          <p:cNvSpPr/>
          <p:nvPr/>
        </p:nvSpPr>
        <p:spPr>
          <a:xfrm>
            <a:off x="683568" y="6381328"/>
            <a:ext cx="4176464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197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60648"/>
            <a:ext cx="8784976" cy="706090"/>
          </a:xfrm>
        </p:spPr>
        <p:txBody>
          <a:bodyPr>
            <a:normAutofit/>
          </a:bodyPr>
          <a:lstStyle/>
          <a:p>
            <a:r>
              <a:rPr lang="en-US" sz="3400" dirty="0">
                <a:latin typeface="Palatino Linotype" panose="02040502050505030304" pitchFamily="18" charset="0"/>
              </a:rPr>
              <a:t>1. Main results: broader interpretation</a:t>
            </a:r>
            <a:endParaRPr lang="en-US" sz="3000" i="1" u="sng" dirty="0">
              <a:latin typeface="Palatino Linotype" panose="0204050205050503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B4AC3B-4AD0-B4BF-0297-99B1E3219617}"/>
              </a:ext>
            </a:extLst>
          </p:cNvPr>
          <p:cNvSpPr/>
          <p:nvPr/>
        </p:nvSpPr>
        <p:spPr>
          <a:xfrm>
            <a:off x="683568" y="6381328"/>
            <a:ext cx="4176464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179512" y="1412776"/>
            <a:ext cx="8784976" cy="5248374"/>
          </a:xfrm>
        </p:spPr>
        <p:txBody>
          <a:bodyPr>
            <a:normAutofit/>
          </a:bodyPr>
          <a:lstStyle/>
          <a:p>
            <a:r>
              <a:rPr lang="en-US" dirty="0">
                <a:latin typeface="Palatino Linotype" panose="02040502050505030304" pitchFamily="18" charset="0"/>
              </a:rPr>
              <a:t>Measure of “newness” within brand, which may differ from effectiveness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Palatino Linotype" panose="02040502050505030304" pitchFamily="18" charset="0"/>
            </a:endParaRP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Palatino Linotype" panose="02040502050505030304" pitchFamily="18" charset="0"/>
              </a:rPr>
              <a:t>Hard to cross-brand compare, but newest CD (07) is older than oldest BS (10)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Palatino Linotype" panose="02040502050505030304" pitchFamily="18" charset="0"/>
            </a:endParaRPr>
          </a:p>
          <a:p>
            <a:pPr lvl="1"/>
            <a:r>
              <a:rPr lang="en-US" b="1" u="sng" dirty="0">
                <a:solidFill>
                  <a:schemeClr val="accent1"/>
                </a:solidFill>
                <a:latin typeface="Palatino Linotype" panose="02040502050505030304" pitchFamily="18" charset="0"/>
              </a:rPr>
              <a:t>Ideas</a:t>
            </a:r>
            <a:r>
              <a:rPr lang="en-US" dirty="0">
                <a:solidFill>
                  <a:schemeClr val="accent1"/>
                </a:solidFill>
                <a:latin typeface="Palatino Linotype" panose="02040502050505030304" pitchFamily="18" charset="0"/>
              </a:rPr>
              <a:t>: (1) a proxy of overall newness/clinical-effectiveness? E.g., based on info noted in footnote 1, HTA, or US premarket approval (PMA) reports? </a:t>
            </a:r>
          </a:p>
          <a:p>
            <a:pPr lvl="1"/>
            <a:r>
              <a:rPr lang="en-US" dirty="0">
                <a:solidFill>
                  <a:schemeClr val="accent1"/>
                </a:solidFill>
                <a:latin typeface="Palatino Linotype" panose="02040502050505030304" pitchFamily="18" charset="0"/>
              </a:rPr>
              <a:t>(2) (alt.) control for clinical quality metrics (coating materials, strut-thickness, polymer type) to separate new from better? </a:t>
            </a:r>
          </a:p>
          <a:p>
            <a:pPr lvl="1"/>
            <a:r>
              <a:rPr lang="en-US" sz="1600" dirty="0">
                <a:solidFill>
                  <a:srgbClr val="898989"/>
                </a:solidFill>
                <a:latin typeface="Palatino Linotype" panose="02040502050505030304" pitchFamily="18" charset="0"/>
              </a:rPr>
              <a:t>Minor Q: why combine gen 4-5 SB stents (when the coating materials are different)?</a:t>
            </a:r>
          </a:p>
          <a:p>
            <a:pPr marL="457200" lvl="1" indent="0">
              <a:buNone/>
            </a:pPr>
            <a:endParaRPr lang="en-US" sz="2000" dirty="0">
              <a:solidFill>
                <a:srgbClr val="898989"/>
              </a:solidFill>
              <a:latin typeface="Palatino Linotype" panose="02040502050505030304" pitchFamily="18" charset="0"/>
            </a:endParaRPr>
          </a:p>
          <a:p>
            <a:r>
              <a:rPr lang="en-US" dirty="0">
                <a:latin typeface="Palatino Linotype" panose="02040502050505030304" pitchFamily="18" charset="0"/>
              </a:rPr>
              <a:t>~ 70% Taiwanese hold private insurance (in 2025): DES coverage?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Palatino Linotype" panose="02040502050505030304" pitchFamily="18" charset="0"/>
              </a:rPr>
              <a:t>How did private insurance cover DES during the sample period?</a:t>
            </a:r>
          </a:p>
          <a:p>
            <a:pPr lvl="1"/>
            <a:r>
              <a:rPr lang="en-US" dirty="0">
                <a:solidFill>
                  <a:schemeClr val="accent1"/>
                </a:solidFill>
                <a:latin typeface="Palatino Linotype" panose="02040502050505030304" pitchFamily="18" charset="0"/>
              </a:rPr>
              <a:t>Probably very hard to get such info, and may not affect the main results, but can be relevant to the equity-based patient coupon CF (e.g., subsidy choices)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Palatino Linotype" panose="02040502050505030304" pitchFamily="18" charset="0"/>
            </a:endParaRPr>
          </a:p>
          <a:p>
            <a:pPr marL="457200" lvl="1" indent="0">
              <a:buNone/>
            </a:pPr>
            <a:endParaRPr lang="en-US" sz="1600" dirty="0">
              <a:solidFill>
                <a:srgbClr val="898989"/>
              </a:solidFill>
              <a:latin typeface="Palatino Linotype" panose="02040502050505030304" pitchFamily="18" charset="0"/>
            </a:endParaRPr>
          </a:p>
          <a:p>
            <a:pPr marL="0" indent="0">
              <a:buNone/>
            </a:pPr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692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6469A-BC7F-ACDB-4DE7-66065C33B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6EFB01-CA4B-2C80-013F-C6B9825FC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776" y="1389408"/>
            <a:ext cx="9073008" cy="5122219"/>
          </a:xfrm>
        </p:spPr>
        <p:txBody>
          <a:bodyPr>
            <a:noAutofit/>
          </a:bodyPr>
          <a:lstStyle/>
          <a:p>
            <a:r>
              <a:rPr lang="en-US" dirty="0">
                <a:latin typeface="Palatino Linotype" panose="02040502050505030304" pitchFamily="18" charset="0"/>
              </a:rPr>
              <a:t>Selective contracting: non-contracted DES brands become fully OOP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Palatino Linotype" panose="02040502050505030304" pitchFamily="18" charset="0"/>
              </a:rPr>
              <a:t>Simulation based on two market leaders (not HTA), is it realistic?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Palatino Linotype" panose="02040502050505030304" pitchFamily="18" charset="0"/>
            </a:endParaRPr>
          </a:p>
          <a:p>
            <a:pPr lvl="1"/>
            <a:r>
              <a:rPr lang="en-US" dirty="0">
                <a:solidFill>
                  <a:schemeClr val="accent1"/>
                </a:solidFill>
                <a:latin typeface="Palatino Linotype" panose="02040502050505030304" pitchFamily="18" charset="0"/>
              </a:rPr>
              <a:t>May face practical challenges. What if the NHI use tiered copayments (lower for contracted brands) rather than full exclusion? </a:t>
            </a:r>
          </a:p>
          <a:p>
            <a:pPr lvl="1"/>
            <a:endParaRPr lang="en-US" sz="2000" dirty="0">
              <a:solidFill>
                <a:schemeClr val="accent1"/>
              </a:solidFill>
              <a:latin typeface="Palatino Linotype" panose="02040502050505030304" pitchFamily="18" charset="0"/>
            </a:endParaRPr>
          </a:p>
          <a:p>
            <a:r>
              <a:rPr lang="en-US" dirty="0">
                <a:latin typeface="Palatino Linotype" panose="02040502050505030304" pitchFamily="18" charset="0"/>
              </a:rPr>
              <a:t>Practical policy Q on manufacturer’s participation (when not TILI)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Palatino Linotype" panose="02040502050505030304" pitchFamily="18" charset="0"/>
              </a:rPr>
              <a:t>(Table 10) manufacturers prefer mid-range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alatino Linotype" panose="02040502050505030304" pitchFamily="18" charset="0"/>
              </a:rPr>
              <a:t>r</a:t>
            </a:r>
            <a:r>
              <a:rPr lang="en-US" baseline="30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alatino Linotype" panose="02040502050505030304" pitchFamily="18" charset="0"/>
              </a:rPr>
              <a:t>c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Palatino Linotype" panose="02040502050505030304" pitchFamily="18" charset="0"/>
              </a:rPr>
              <a:t> (cost factor) when take-it/leave-it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Palatino Linotype" panose="02040502050505030304" pitchFamily="18" charset="0"/>
            </a:endParaRPr>
          </a:p>
          <a:p>
            <a:pPr lvl="1"/>
            <a:r>
              <a:rPr lang="en-US" dirty="0">
                <a:solidFill>
                  <a:schemeClr val="accent1"/>
                </a:solidFill>
                <a:latin typeface="Palatino Linotype" panose="02040502050505030304" pitchFamily="18" charset="0"/>
              </a:rPr>
              <a:t>In practice, would NHI run an auction or negotiation? How the equilibrium </a:t>
            </a:r>
            <a:r>
              <a:rPr lang="en-US" dirty="0" err="1">
                <a:solidFill>
                  <a:schemeClr val="accent1"/>
                </a:solidFill>
                <a:latin typeface="Palatino Linotype" panose="02040502050505030304" pitchFamily="18" charset="0"/>
              </a:rPr>
              <a:t>r</a:t>
            </a:r>
            <a:r>
              <a:rPr lang="en-US" baseline="30000" dirty="0" err="1">
                <a:solidFill>
                  <a:schemeClr val="accent1"/>
                </a:solidFill>
                <a:latin typeface="Palatino Linotype" panose="02040502050505030304" pitchFamily="18" charset="0"/>
              </a:rPr>
              <a:t>c</a:t>
            </a:r>
            <a:r>
              <a:rPr lang="en-US" dirty="0">
                <a:solidFill>
                  <a:schemeClr val="accent1"/>
                </a:solidFill>
                <a:latin typeface="Palatino Linotype" panose="02040502050505030304" pitchFamily="18" charset="0"/>
              </a:rPr>
              <a:t> under different procurement mechanisms may vary relative to benchmark?</a:t>
            </a:r>
            <a:endParaRPr lang="en-US" sz="1900" dirty="0">
              <a:solidFill>
                <a:schemeClr val="accent1"/>
              </a:solidFill>
              <a:latin typeface="Palatino Linotype" panose="02040502050505030304" pitchFamily="18" charset="0"/>
            </a:endParaRPr>
          </a:p>
          <a:p>
            <a:pPr marL="457200" lvl="1" indent="0">
              <a:buNone/>
            </a:pPr>
            <a:endParaRPr lang="en-US" sz="2000" dirty="0">
              <a:solidFill>
                <a:schemeClr val="accent1"/>
              </a:solidFill>
              <a:latin typeface="Palatino Linotype" panose="02040502050505030304" pitchFamily="18" charset="0"/>
            </a:endParaRPr>
          </a:p>
          <a:p>
            <a:r>
              <a:rPr lang="en-US" dirty="0">
                <a:latin typeface="Palatino Linotype" panose="02040502050505030304" pitchFamily="18" charset="0"/>
              </a:rPr>
              <a:t>(Extension): counterfactuals w/ value-based reimbursement adjustments?</a:t>
            </a:r>
          </a:p>
          <a:p>
            <a:pPr lvl="1"/>
            <a:r>
              <a:rPr 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Palatino Linotype" panose="02040502050505030304" pitchFamily="18" charset="0"/>
              </a:rPr>
              <a:t>NHIA amended the balanced-billing rules 2020 reward high-qual. devices</a:t>
            </a:r>
          </a:p>
          <a:p>
            <a:pPr lvl="1"/>
            <a:r>
              <a:rPr lang="en-US" dirty="0">
                <a:solidFill>
                  <a:schemeClr val="accent1"/>
                </a:solidFill>
                <a:latin typeface="Palatino Linotype" panose="02040502050505030304" pitchFamily="18" charset="0"/>
              </a:rPr>
              <a:t>The model would still work, but can be a cool CF or future paper (w more data)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Palatino Linotype" panose="0204050205050503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82C3193-D168-66FA-6C10-2434C168E161}"/>
              </a:ext>
            </a:extLst>
          </p:cNvPr>
          <p:cNvSpPr txBox="1">
            <a:spLocks/>
          </p:cNvSpPr>
          <p:nvPr/>
        </p:nvSpPr>
        <p:spPr>
          <a:xfrm>
            <a:off x="323528" y="260648"/>
            <a:ext cx="8640960" cy="706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14A8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Palatino Linotype" panose="02040502050505030304" pitchFamily="18" charset="0"/>
              </a:rPr>
              <a:t>2. Counterfactuals: additional thoughts </a:t>
            </a:r>
            <a:endParaRPr lang="en-US" sz="3000" i="1" u="sng" dirty="0">
              <a:latin typeface="Palatino Linotype" panose="0204050205050503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111800-8A13-F1DF-CF4A-0C07B2408944}"/>
              </a:ext>
            </a:extLst>
          </p:cNvPr>
          <p:cNvSpPr/>
          <p:nvPr/>
        </p:nvSpPr>
        <p:spPr>
          <a:xfrm>
            <a:off x="683568" y="6381328"/>
            <a:ext cx="4176464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987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dirty="0">
                <a:latin typeface="Palatino Linotype" panose="02040502050505030304" pitchFamily="18" charset="0"/>
              </a:rPr>
              <a:t>Minor suggestions/future extensions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145604" y="1340768"/>
            <a:ext cx="8998395" cy="5242594"/>
          </a:xfrm>
        </p:spPr>
        <p:txBody>
          <a:bodyPr>
            <a:normAutofit/>
          </a:bodyPr>
          <a:lstStyle/>
          <a:p>
            <a:r>
              <a:rPr lang="en-US" dirty="0">
                <a:latin typeface="Palatino Linotype" panose="02040502050505030304" pitchFamily="18" charset="0"/>
              </a:rPr>
              <a:t>DRG related payment reforms during sample period in 2010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Palatino Linotype" panose="02040502050505030304" pitchFamily="18" charset="0"/>
              </a:rPr>
              <a:t>Do hospital need to profit max over product and procedure costs in a DRG?</a:t>
            </a:r>
          </a:p>
          <a:p>
            <a:endParaRPr lang="en-US" sz="1400" dirty="0">
              <a:latin typeface="Palatino Linotype" panose="02040502050505030304" pitchFamily="18" charset="0"/>
            </a:endParaRPr>
          </a:p>
          <a:p>
            <a:r>
              <a:rPr lang="en-US" dirty="0">
                <a:latin typeface="Palatino Linotype" panose="02040502050505030304" pitchFamily="18" charset="0"/>
              </a:rPr>
              <a:t>Price IV: can exchange rate gen diff. brand-level shocks/passthroughs?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Palatino Linotype" panose="02040502050505030304" pitchFamily="18" charset="0"/>
              </a:rPr>
              <a:t>Footnote discuss the exclusion restriction, or robustness w/o this (over-id) IV?</a:t>
            </a:r>
          </a:p>
          <a:p>
            <a:pPr marL="0" indent="0">
              <a:buNone/>
            </a:pPr>
            <a:endParaRPr lang="en-US" sz="1400" dirty="0">
              <a:latin typeface="Palatino Linotype" panose="02040502050505030304" pitchFamily="18" charset="0"/>
            </a:endParaRPr>
          </a:p>
          <a:p>
            <a:r>
              <a:rPr lang="en-US" dirty="0">
                <a:latin typeface="Palatino Linotype" panose="02040502050505030304" pitchFamily="18" charset="0"/>
              </a:rPr>
              <a:t>Control </a:t>
            </a:r>
            <a:r>
              <a:rPr lang="en-US" dirty="0" err="1">
                <a:latin typeface="Palatino Linotype" panose="02040502050505030304" pitchFamily="18" charset="0"/>
              </a:rPr>
              <a:t>fcn</a:t>
            </a:r>
            <a:r>
              <a:rPr lang="en-US" dirty="0">
                <a:latin typeface="Palatino Linotype" panose="02040502050505030304" pitchFamily="18" charset="0"/>
              </a:rPr>
              <a:t>: 0 residual for all new unit combo, no unobserved quality diff.</a:t>
            </a:r>
            <a:endParaRPr lang="en-US" dirty="0">
              <a:solidFill>
                <a:schemeClr val="bg1">
                  <a:lumMod val="50000"/>
                </a:schemeClr>
              </a:solidFill>
              <a:latin typeface="Palatino Linotype" panose="02040502050505030304" pitchFamily="18" charset="0"/>
            </a:endParaRP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Palatino Linotype" panose="02040502050505030304" pitchFamily="18" charset="0"/>
              </a:rPr>
              <a:t>Robustness: impute residuals based on brand fixed effects from the first stage?</a:t>
            </a:r>
          </a:p>
          <a:p>
            <a:endParaRPr lang="en-US" sz="1400" dirty="0">
              <a:latin typeface="Palatino Linotype" panose="02040502050505030304" pitchFamily="18" charset="0"/>
            </a:endParaRPr>
          </a:p>
          <a:p>
            <a:r>
              <a:rPr lang="en-US" dirty="0">
                <a:latin typeface="Palatino Linotype" panose="02040502050505030304" pitchFamily="18" charset="0"/>
              </a:rPr>
              <a:t>Figure 7 is informative but hard to discern the differences btw subplots</a:t>
            </a:r>
            <a:endParaRPr lang="en-US" dirty="0">
              <a:solidFill>
                <a:schemeClr val="bg1">
                  <a:lumMod val="65000"/>
                </a:schemeClr>
              </a:solidFill>
              <a:latin typeface="Palatino Linotype" panose="02040502050505030304" pitchFamily="18" charset="0"/>
            </a:endParaRP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Palatino Linotype" panose="02040502050505030304" pitchFamily="18" charset="0"/>
              </a:rPr>
              <a:t>E.g., status quo (a) looks like both BMS &amp; DES are reimbursed, (c) hard to read</a:t>
            </a:r>
          </a:p>
          <a:p>
            <a:endParaRPr lang="en-US" sz="1400" dirty="0">
              <a:latin typeface="Palatino Linotype" panose="02040502050505030304" pitchFamily="18" charset="0"/>
            </a:endParaRPr>
          </a:p>
          <a:p>
            <a:r>
              <a:rPr lang="en-US" dirty="0" err="1">
                <a:latin typeface="Palatino Linotype" panose="02040502050505030304" pitchFamily="18" charset="0"/>
              </a:rPr>
              <a:t>Eqn</a:t>
            </a:r>
            <a:r>
              <a:rPr lang="en-US" dirty="0">
                <a:latin typeface="Palatino Linotype" panose="02040502050505030304" pitchFamily="18" charset="0"/>
              </a:rPr>
              <a:t> (1) distance measure: straight-line vs. great-circle (spherical) distance</a:t>
            </a:r>
            <a:endParaRPr lang="en-US" dirty="0">
              <a:solidFill>
                <a:schemeClr val="bg1">
                  <a:lumMod val="65000"/>
                </a:schemeClr>
              </a:solidFill>
              <a:latin typeface="Palatino Linotype" panose="02040502050505030304" pitchFamily="18" charset="0"/>
            </a:endParaRP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Palatino Linotype" panose="02040502050505030304" pitchFamily="18" charset="0"/>
              </a:rPr>
              <a:t>Maybe they are similar, or robust using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Palatino Linotype" panose="02040502050505030304" pitchFamily="18" charset="0"/>
              </a:rPr>
              <a:t>greatCircleDistance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Palatino Linotype" panose="02040502050505030304" pitchFamily="18" charset="0"/>
              </a:rPr>
              <a:t> (MATLAB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Palatino Linotype" panose="02040502050505030304" pitchFamily="18" charset="0"/>
              </a:rPr>
              <a:t>fcn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Palatino Linotype" panose="02040502050505030304" pitchFamily="18" charset="0"/>
              </a:rPr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E743F0-E413-7408-FBB9-3FA8B0499A58}"/>
              </a:ext>
            </a:extLst>
          </p:cNvPr>
          <p:cNvSpPr/>
          <p:nvPr/>
        </p:nvSpPr>
        <p:spPr>
          <a:xfrm>
            <a:off x="683568" y="6381328"/>
            <a:ext cx="4176464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54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dirty="0">
                <a:latin typeface="Palatino Linotype" panose="02040502050505030304" pitchFamily="18" charset="0"/>
              </a:rPr>
              <a:t>Final thoughts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58864" y="1476944"/>
            <a:ext cx="9036495" cy="4400327"/>
          </a:xfrm>
        </p:spPr>
        <p:txBody>
          <a:bodyPr>
            <a:normAutofit/>
          </a:bodyPr>
          <a:lstStyle/>
          <a:p>
            <a:r>
              <a:rPr lang="en-US" sz="2300" dirty="0">
                <a:latin typeface="Palatino Linotype" panose="02040502050505030304" pitchFamily="18" charset="0"/>
              </a:rPr>
              <a:t>Very cool topic, lots of food for thought</a:t>
            </a:r>
          </a:p>
          <a:p>
            <a:endParaRPr lang="en-US" sz="2300" dirty="0">
              <a:latin typeface="Palatino Linotype" panose="02040502050505030304" pitchFamily="18" charset="0"/>
            </a:endParaRPr>
          </a:p>
          <a:p>
            <a:r>
              <a:rPr lang="en-US" sz="2300" dirty="0">
                <a:latin typeface="Palatino Linotype" panose="02040502050505030304" pitchFamily="18" charset="0"/>
              </a:rPr>
              <a:t>Key takeaway: hospitals as </a:t>
            </a:r>
            <a:r>
              <a:rPr lang="en-US" sz="2300" i="1" dirty="0">
                <a:latin typeface="Palatino Linotype" panose="02040502050505030304" pitchFamily="18" charset="0"/>
              </a:rPr>
              <a:t>strategic intermediaries</a:t>
            </a:r>
            <a:r>
              <a:rPr lang="en-US" sz="2300" dirty="0">
                <a:latin typeface="Palatino Linotype" panose="02040502050505030304" pitchFamily="18" charset="0"/>
              </a:rPr>
              <a:t> play a critical role in </a:t>
            </a:r>
            <a:r>
              <a:rPr lang="en-US" sz="2300" i="1" dirty="0">
                <a:latin typeface="Palatino Linotype" panose="02040502050505030304" pitchFamily="18" charset="0"/>
              </a:rPr>
              <a:t>innovation diffusion</a:t>
            </a:r>
            <a:r>
              <a:rPr lang="en-US" sz="2300" dirty="0">
                <a:latin typeface="Palatino Linotype" panose="02040502050505030304" pitchFamily="18" charset="0"/>
              </a:rPr>
              <a:t>, and effective policy must manage the tension btw competitive pricing and adoption incentives</a:t>
            </a:r>
          </a:p>
          <a:p>
            <a:endParaRPr lang="en-US" sz="2300" dirty="0">
              <a:latin typeface="Palatino Linotype" panose="02040502050505030304" pitchFamily="18" charset="0"/>
            </a:endParaRPr>
          </a:p>
          <a:p>
            <a:r>
              <a:rPr lang="en-US" sz="2300" dirty="0">
                <a:latin typeface="Palatino Linotype" panose="02040502050505030304" pitchFamily="18" charset="0"/>
              </a:rPr>
              <a:t>Main thoughts: clarify some institutional nuances, and explore selective contracting variants (non-exclusive, tiered design) that might achieve wins without requiring concentrated markets.</a:t>
            </a:r>
            <a:endParaRPr lang="en-US" sz="2300" dirty="0">
              <a:highlight>
                <a:srgbClr val="FFFF00"/>
              </a:highlight>
              <a:latin typeface="Palatino Linotype" panose="02040502050505030304" pitchFamily="18" charset="0"/>
            </a:endParaRPr>
          </a:p>
          <a:p>
            <a:endParaRPr lang="en-US" sz="2300" dirty="0">
              <a:latin typeface="Palatino Linotype" panose="02040502050505030304" pitchFamily="18" charset="0"/>
            </a:endParaRPr>
          </a:p>
          <a:p>
            <a:r>
              <a:rPr lang="en-US" sz="2300" dirty="0">
                <a:latin typeface="Palatino Linotype" panose="02040502050505030304" pitchFamily="18" charset="0"/>
              </a:rPr>
              <a:t>Very polished paper; looking forward to the final version!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531602-8030-4DD0-DE33-7FC11C87B2E3}"/>
              </a:ext>
            </a:extLst>
          </p:cNvPr>
          <p:cNvSpPr/>
          <p:nvPr/>
        </p:nvSpPr>
        <p:spPr>
          <a:xfrm>
            <a:off x="683568" y="6381328"/>
            <a:ext cx="4176464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596098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8921</TotalTime>
  <Words>738</Words>
  <Application>Microsoft Office PowerPoint</Application>
  <PresentationFormat>On-screen Show (4:3)</PresentationFormat>
  <Paragraphs>69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Assistant</vt:lpstr>
      <vt:lpstr>Calibri</vt:lpstr>
      <vt:lpstr>Palatino Linotype</vt:lpstr>
      <vt:lpstr>PT Sans</vt:lpstr>
      <vt:lpstr>Times New Roman</vt:lpstr>
      <vt:lpstr>Larissa</vt:lpstr>
      <vt:lpstr>Diffusing Innovations Under Market Competition: Evidence from Drug-Eluting Stents</vt:lpstr>
      <vt:lpstr>Main message and contribution</vt:lpstr>
      <vt:lpstr>1. Main results: broader interpretation</vt:lpstr>
      <vt:lpstr>PowerPoint Presentation</vt:lpstr>
      <vt:lpstr>Minor suggestions/future extensions</vt:lpstr>
      <vt:lpstr>Final thoughts</vt:lpstr>
    </vt:vector>
  </TitlesOfParts>
  <Company>MPI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Lendle Sarah</dc:creator>
  <cp:lastModifiedBy>Lucy Xiaolu Wang</cp:lastModifiedBy>
  <cp:revision>615</cp:revision>
  <dcterms:created xsi:type="dcterms:W3CDTF">2018-05-02T08:16:08Z</dcterms:created>
  <dcterms:modified xsi:type="dcterms:W3CDTF">2026-01-02T22:50:29Z</dcterms:modified>
</cp:coreProperties>
</file>