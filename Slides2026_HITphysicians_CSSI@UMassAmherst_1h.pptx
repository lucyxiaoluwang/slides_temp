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Override2.xml" ContentType="application/vnd.openxmlformats-officedocument.themeOverrid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Override3.xml" ContentType="application/vnd.openxmlformats-officedocument.themeOverride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6.xml" ContentType="application/vnd.openxmlformats-officedocument.theme+xml"/>
  <Override PartName="/ppt/theme/themeOverride4.xml" ContentType="application/vnd.openxmlformats-officedocument.themeOverrid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3672" r:id="rId2"/>
    <p:sldMasterId id="2147483674" r:id="rId3"/>
    <p:sldMasterId id="2147483686" r:id="rId4"/>
    <p:sldMasterId id="2147483926" r:id="rId5"/>
    <p:sldMasterId id="2147483928" r:id="rId6"/>
  </p:sldMasterIdLst>
  <p:notesMasterIdLst>
    <p:notesMasterId r:id="rId43"/>
  </p:notesMasterIdLst>
  <p:handoutMasterIdLst>
    <p:handoutMasterId r:id="rId44"/>
  </p:handoutMasterIdLst>
  <p:sldIdLst>
    <p:sldId id="2503" r:id="rId7"/>
    <p:sldId id="2535" r:id="rId8"/>
    <p:sldId id="2560" r:id="rId9"/>
    <p:sldId id="2551" r:id="rId10"/>
    <p:sldId id="2561" r:id="rId11"/>
    <p:sldId id="2505" r:id="rId12"/>
    <p:sldId id="2536" r:id="rId13"/>
    <p:sldId id="2562" r:id="rId14"/>
    <p:sldId id="2514" r:id="rId15"/>
    <p:sldId id="2525" r:id="rId16"/>
    <p:sldId id="2516" r:id="rId17"/>
    <p:sldId id="2512" r:id="rId18"/>
    <p:sldId id="2538" r:id="rId19"/>
    <p:sldId id="2544" r:id="rId20"/>
    <p:sldId id="2559" r:id="rId21"/>
    <p:sldId id="2545" r:id="rId22"/>
    <p:sldId id="2546" r:id="rId23"/>
    <p:sldId id="2572" r:id="rId24"/>
    <p:sldId id="2540" r:id="rId25"/>
    <p:sldId id="2571" r:id="rId26"/>
    <p:sldId id="2563" r:id="rId27"/>
    <p:sldId id="2552" r:id="rId28"/>
    <p:sldId id="2542" r:id="rId29"/>
    <p:sldId id="2564" r:id="rId30"/>
    <p:sldId id="2523" r:id="rId31"/>
    <p:sldId id="2554" r:id="rId32"/>
    <p:sldId id="2527" r:id="rId33"/>
    <p:sldId id="2566" r:id="rId34"/>
    <p:sldId id="2549" r:id="rId35"/>
    <p:sldId id="2569" r:id="rId36"/>
    <p:sldId id="2570" r:id="rId37"/>
    <p:sldId id="2567" r:id="rId38"/>
    <p:sldId id="2568" r:id="rId39"/>
    <p:sldId id="2543" r:id="rId40"/>
    <p:sldId id="2548" r:id="rId41"/>
    <p:sldId id="2550" r:id="rId42"/>
  </p:sldIdLst>
  <p:sldSz cx="9144000" cy="6858000" type="screen4x3"/>
  <p:notesSz cx="7010400" cy="92964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16" userDrawn="1">
          <p15:clr>
            <a:srgbClr val="A4A3A4"/>
          </p15:clr>
        </p15:guide>
        <p15:guide id="2" pos="2098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pard, Mark" initials="SM" lastIdx="5" clrIdx="0"/>
  <p:cmAuthor id="2" name="Mark Shepard" initials="MS" lastIdx="2" clrIdx="1"/>
  <p:cmAuthor id="3" name="Layton, Tim J." initials="LTJ" lastIdx="3" clrIdx="2"/>
  <p:cmAuthor id="4" name="Tim Layton" initials="TJL" lastIdx="8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099FF"/>
    <a:srgbClr val="003FBC"/>
    <a:srgbClr val="003399"/>
    <a:srgbClr val="0033CC"/>
    <a:srgbClr val="0000CC"/>
    <a:srgbClr val="003366"/>
    <a:srgbClr val="EF8321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B440C7-B5C3-4D99-B752-5950E0B588D6}" v="5811" dt="2025-04-07T04:11:09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5097" autoAdjust="0"/>
  </p:normalViewPr>
  <p:slideViewPr>
    <p:cSldViewPr>
      <p:cViewPr varScale="1">
        <p:scale>
          <a:sx n="79" d="100"/>
          <a:sy n="79" d="100"/>
        </p:scale>
        <p:origin x="163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52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16"/>
        <p:guide pos="2098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handoutMaster" Target="handoutMasters/handoutMaster1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commentAuthors" Target="commentAuthor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Xiaolu Wang" userId="d9b7a544-9749-4aea-aeb2-781426814991" providerId="ADAL" clId="{D2B440C7-B5C3-4D99-B752-5950E0B588D6}"/>
    <pc:docChg chg="undo custSel addSld delSld modSld sldOrd">
      <pc:chgData name="Lucy Xiaolu Wang" userId="d9b7a544-9749-4aea-aeb2-781426814991" providerId="ADAL" clId="{D2B440C7-B5C3-4D99-B752-5950E0B588D6}" dt="2025-04-07T04:11:09.979" v="13825" actId="20577"/>
      <pc:docMkLst>
        <pc:docMk/>
      </pc:docMkLst>
      <pc:sldChg chg="modSp mod modAnim">
        <pc:chgData name="Lucy Xiaolu Wang" userId="d9b7a544-9749-4aea-aeb2-781426814991" providerId="ADAL" clId="{D2B440C7-B5C3-4D99-B752-5950E0B588D6}" dt="2025-04-06T04:09:49.874" v="932" actId="20577"/>
        <pc:sldMkLst>
          <pc:docMk/>
          <pc:sldMk cId="733815414" sldId="2505"/>
        </pc:sldMkLst>
        <pc:spChg chg="mod">
          <ac:chgData name="Lucy Xiaolu Wang" userId="d9b7a544-9749-4aea-aeb2-781426814991" providerId="ADAL" clId="{D2B440C7-B5C3-4D99-B752-5950E0B588D6}" dt="2025-04-06T04:09:49.874" v="932" actId="20577"/>
          <ac:spMkLst>
            <pc:docMk/>
            <pc:sldMk cId="733815414" sldId="2505"/>
            <ac:spMk id="3" creationId="{5FC3B36D-52D3-85AB-463D-EBAFA67DFCAC}"/>
          </ac:spMkLst>
        </pc:spChg>
        <pc:picChg chg="mod">
          <ac:chgData name="Lucy Xiaolu Wang" userId="d9b7a544-9749-4aea-aeb2-781426814991" providerId="ADAL" clId="{D2B440C7-B5C3-4D99-B752-5950E0B588D6}" dt="2025-04-06T04:05:26.345" v="813" actId="1038"/>
          <ac:picMkLst>
            <pc:docMk/>
            <pc:sldMk cId="733815414" sldId="2505"/>
            <ac:picMk id="5" creationId="{F51360FC-3A11-C232-311C-F6B3AA2F1EB4}"/>
          </ac:picMkLst>
        </pc:picChg>
      </pc:sldChg>
      <pc:sldChg chg="modSp mod">
        <pc:chgData name="Lucy Xiaolu Wang" userId="d9b7a544-9749-4aea-aeb2-781426814991" providerId="ADAL" clId="{D2B440C7-B5C3-4D99-B752-5950E0B588D6}" dt="2025-04-07T03:09:50.382" v="11133" actId="20577"/>
        <pc:sldMkLst>
          <pc:docMk/>
          <pc:sldMk cId="2251656655" sldId="2506"/>
        </pc:sldMkLst>
        <pc:spChg chg="mod">
          <ac:chgData name="Lucy Xiaolu Wang" userId="d9b7a544-9749-4aea-aeb2-781426814991" providerId="ADAL" clId="{D2B440C7-B5C3-4D99-B752-5950E0B588D6}" dt="2025-04-07T03:09:50.382" v="11133" actId="20577"/>
          <ac:spMkLst>
            <pc:docMk/>
            <pc:sldMk cId="2251656655" sldId="2506"/>
            <ac:spMk id="3" creationId="{A7A4472A-48C4-1BB0-85D7-A2182E08CE90}"/>
          </ac:spMkLst>
        </pc:spChg>
        <pc:spChg chg="mod">
          <ac:chgData name="Lucy Xiaolu Wang" userId="d9b7a544-9749-4aea-aeb2-781426814991" providerId="ADAL" clId="{D2B440C7-B5C3-4D99-B752-5950E0B588D6}" dt="2025-04-07T03:08:39.085" v="11066" actId="20577"/>
          <ac:spMkLst>
            <pc:docMk/>
            <pc:sldMk cId="2251656655" sldId="2506"/>
            <ac:spMk id="5" creationId="{BAC8522A-6E7C-9232-0FFB-7E4FE7C30B9E}"/>
          </ac:spMkLst>
        </pc:spChg>
      </pc:sldChg>
      <pc:sldChg chg="modSp mod ord modAnim">
        <pc:chgData name="Lucy Xiaolu Wang" userId="d9b7a544-9749-4aea-aeb2-781426814991" providerId="ADAL" clId="{D2B440C7-B5C3-4D99-B752-5950E0B588D6}" dt="2025-04-07T03:04:06.286" v="10808"/>
        <pc:sldMkLst>
          <pc:docMk/>
          <pc:sldMk cId="4276327475" sldId="2508"/>
        </pc:sldMkLst>
        <pc:spChg chg="mod">
          <ac:chgData name="Lucy Xiaolu Wang" userId="d9b7a544-9749-4aea-aeb2-781426814991" providerId="ADAL" clId="{D2B440C7-B5C3-4D99-B752-5950E0B588D6}" dt="2025-04-06T04:12:38.442" v="1194" actId="20577"/>
          <ac:spMkLst>
            <pc:docMk/>
            <pc:sldMk cId="4276327475" sldId="2508"/>
            <ac:spMk id="2" creationId="{6B71A387-992A-C43C-FFCF-992E9EF30F6A}"/>
          </ac:spMkLst>
        </pc:spChg>
        <pc:spChg chg="mod">
          <ac:chgData name="Lucy Xiaolu Wang" userId="d9b7a544-9749-4aea-aeb2-781426814991" providerId="ADAL" clId="{D2B440C7-B5C3-4D99-B752-5950E0B588D6}" dt="2025-04-07T03:03:29.694" v="10806" actId="20577"/>
          <ac:spMkLst>
            <pc:docMk/>
            <pc:sldMk cId="4276327475" sldId="2508"/>
            <ac:spMk id="3" creationId="{D5430B10-6B4D-6AD2-434E-933EB28E37F5}"/>
          </ac:spMkLst>
        </pc:spChg>
      </pc:sldChg>
      <pc:sldChg chg="addSp modSp mod">
        <pc:chgData name="Lucy Xiaolu Wang" userId="d9b7a544-9749-4aea-aeb2-781426814991" providerId="ADAL" clId="{D2B440C7-B5C3-4D99-B752-5950E0B588D6}" dt="2025-04-06T19:33:54.606" v="2254" actId="1076"/>
        <pc:sldMkLst>
          <pc:docMk/>
          <pc:sldMk cId="2535437444" sldId="2512"/>
        </pc:sldMkLst>
        <pc:picChg chg="add mod">
          <ac:chgData name="Lucy Xiaolu Wang" userId="d9b7a544-9749-4aea-aeb2-781426814991" providerId="ADAL" clId="{D2B440C7-B5C3-4D99-B752-5950E0B588D6}" dt="2025-04-06T19:32:58.493" v="2249" actId="14100"/>
          <ac:picMkLst>
            <pc:docMk/>
            <pc:sldMk cId="2535437444" sldId="2512"/>
            <ac:picMk id="5" creationId="{5601C974-E736-EE2B-3F8B-828D6BBC2605}"/>
          </ac:picMkLst>
        </pc:picChg>
        <pc:picChg chg="add mod">
          <ac:chgData name="Lucy Xiaolu Wang" userId="d9b7a544-9749-4aea-aeb2-781426814991" providerId="ADAL" clId="{D2B440C7-B5C3-4D99-B752-5950E0B588D6}" dt="2025-04-06T19:33:54.606" v="2254" actId="1076"/>
          <ac:picMkLst>
            <pc:docMk/>
            <pc:sldMk cId="2535437444" sldId="2512"/>
            <ac:picMk id="7" creationId="{FC302ADD-8567-E105-8142-CB9C512D738F}"/>
          </ac:picMkLst>
        </pc:picChg>
      </pc:sldChg>
      <pc:sldChg chg="addSp delSp modSp mod ord delAnim modAnim">
        <pc:chgData name="Lucy Xiaolu Wang" userId="d9b7a544-9749-4aea-aeb2-781426814991" providerId="ADAL" clId="{D2B440C7-B5C3-4D99-B752-5950E0B588D6}" dt="2025-04-07T04:11:09.979" v="13825" actId="20577"/>
        <pc:sldMkLst>
          <pc:docMk/>
          <pc:sldMk cId="1705452001" sldId="2514"/>
        </pc:sldMkLst>
        <pc:spChg chg="mod">
          <ac:chgData name="Lucy Xiaolu Wang" userId="d9b7a544-9749-4aea-aeb2-781426814991" providerId="ADAL" clId="{D2B440C7-B5C3-4D99-B752-5950E0B588D6}" dt="2025-04-06T04:12:47.760" v="1210" actId="20577"/>
          <ac:spMkLst>
            <pc:docMk/>
            <pc:sldMk cId="1705452001" sldId="2514"/>
            <ac:spMk id="2" creationId="{355A120F-B00F-57C7-C6C9-C9E768786EC5}"/>
          </ac:spMkLst>
        </pc:spChg>
        <pc:spChg chg="mod">
          <ac:chgData name="Lucy Xiaolu Wang" userId="d9b7a544-9749-4aea-aeb2-781426814991" providerId="ADAL" clId="{D2B440C7-B5C3-4D99-B752-5950E0B588D6}" dt="2025-04-07T04:11:09.979" v="13825" actId="20577"/>
          <ac:spMkLst>
            <pc:docMk/>
            <pc:sldMk cId="1705452001" sldId="2514"/>
            <ac:spMk id="3" creationId="{5904742E-547C-BDBF-DDE1-8625B6C2DB94}"/>
          </ac:spMkLst>
        </pc:spChg>
        <pc:picChg chg="del">
          <ac:chgData name="Lucy Xiaolu Wang" userId="d9b7a544-9749-4aea-aeb2-781426814991" providerId="ADAL" clId="{D2B440C7-B5C3-4D99-B752-5950E0B588D6}" dt="2025-04-07T03:45:26.971" v="12503" actId="478"/>
          <ac:picMkLst>
            <pc:docMk/>
            <pc:sldMk cId="1705452001" sldId="2514"/>
            <ac:picMk id="4" creationId="{B82F2CEC-408B-8F5E-1B89-5717155E1374}"/>
          </ac:picMkLst>
        </pc:picChg>
        <pc:picChg chg="add mod">
          <ac:chgData name="Lucy Xiaolu Wang" userId="d9b7a544-9749-4aea-aeb2-781426814991" providerId="ADAL" clId="{D2B440C7-B5C3-4D99-B752-5950E0B588D6}" dt="2025-04-07T04:08:41.816" v="13769" actId="1035"/>
          <ac:picMkLst>
            <pc:docMk/>
            <pc:sldMk cId="1705452001" sldId="2514"/>
            <ac:picMk id="6" creationId="{36FF4E10-2E89-1873-3365-4F34616CC3DF}"/>
          </ac:picMkLst>
        </pc:picChg>
        <pc:picChg chg="add mod">
          <ac:chgData name="Lucy Xiaolu Wang" userId="d9b7a544-9749-4aea-aeb2-781426814991" providerId="ADAL" clId="{D2B440C7-B5C3-4D99-B752-5950E0B588D6}" dt="2025-04-07T04:08:37.995" v="13766" actId="1036"/>
          <ac:picMkLst>
            <pc:docMk/>
            <pc:sldMk cId="1705452001" sldId="2514"/>
            <ac:picMk id="7" creationId="{1F2C2725-562C-E136-9530-2131D0B049F4}"/>
          </ac:picMkLst>
        </pc:picChg>
        <pc:picChg chg="del">
          <ac:chgData name="Lucy Xiaolu Wang" userId="d9b7a544-9749-4aea-aeb2-781426814991" providerId="ADAL" clId="{D2B440C7-B5C3-4D99-B752-5950E0B588D6}" dt="2025-04-07T03:45:25.552" v="12502" actId="478"/>
          <ac:picMkLst>
            <pc:docMk/>
            <pc:sldMk cId="1705452001" sldId="2514"/>
            <ac:picMk id="1026" creationId="{0FDE2220-14CB-D16A-1EF2-F13A572486A8}"/>
          </ac:picMkLst>
        </pc:picChg>
        <pc:picChg chg="add mod">
          <ac:chgData name="Lucy Xiaolu Wang" userId="d9b7a544-9749-4aea-aeb2-781426814991" providerId="ADAL" clId="{D2B440C7-B5C3-4D99-B752-5950E0B588D6}" dt="2025-04-07T04:08:37.995" v="13766" actId="1036"/>
          <ac:picMkLst>
            <pc:docMk/>
            <pc:sldMk cId="1705452001" sldId="2514"/>
            <ac:picMk id="1028" creationId="{1C90FF2B-B3A6-9426-DCAD-62B20755F1D2}"/>
          </ac:picMkLst>
        </pc:picChg>
        <pc:picChg chg="del">
          <ac:chgData name="Lucy Xiaolu Wang" userId="d9b7a544-9749-4aea-aeb2-781426814991" providerId="ADAL" clId="{D2B440C7-B5C3-4D99-B752-5950E0B588D6}" dt="2025-04-07T03:45:28.693" v="12504" actId="478"/>
          <ac:picMkLst>
            <pc:docMk/>
            <pc:sldMk cId="1705452001" sldId="2514"/>
            <ac:picMk id="1032" creationId="{7F4CEEE0-7C13-1E70-0971-C5E0D27D53F8}"/>
          </ac:picMkLst>
        </pc:picChg>
      </pc:sldChg>
      <pc:sldChg chg="modSp mod modAnim">
        <pc:chgData name="Lucy Xiaolu Wang" userId="d9b7a544-9749-4aea-aeb2-781426814991" providerId="ADAL" clId="{D2B440C7-B5C3-4D99-B752-5950E0B588D6}" dt="2025-04-07T03:09:57.216" v="11138" actId="20577"/>
        <pc:sldMkLst>
          <pc:docMk/>
          <pc:sldMk cId="2557384990" sldId="2535"/>
        </pc:sldMkLst>
        <pc:spChg chg="mod">
          <ac:chgData name="Lucy Xiaolu Wang" userId="d9b7a544-9749-4aea-aeb2-781426814991" providerId="ADAL" clId="{D2B440C7-B5C3-4D99-B752-5950E0B588D6}" dt="2025-04-07T03:09:57.216" v="11138" actId="20577"/>
          <ac:spMkLst>
            <pc:docMk/>
            <pc:sldMk cId="2557384990" sldId="2535"/>
            <ac:spMk id="3" creationId="{BF7418D1-C42E-BED7-6D01-0794D030B422}"/>
          </ac:spMkLst>
        </pc:spChg>
      </pc:sldChg>
      <pc:sldChg chg="addSp delSp modSp mod ord">
        <pc:chgData name="Lucy Xiaolu Wang" userId="d9b7a544-9749-4aea-aeb2-781426814991" providerId="ADAL" clId="{D2B440C7-B5C3-4D99-B752-5950E0B588D6}" dt="2025-04-07T03:33:25.934" v="12123"/>
        <pc:sldMkLst>
          <pc:docMk/>
          <pc:sldMk cId="4154917032" sldId="2536"/>
        </pc:sldMkLst>
        <pc:spChg chg="mod">
          <ac:chgData name="Lucy Xiaolu Wang" userId="d9b7a544-9749-4aea-aeb2-781426814991" providerId="ADAL" clId="{D2B440C7-B5C3-4D99-B752-5950E0B588D6}" dt="2025-04-06T04:07:03.583" v="823" actId="20577"/>
          <ac:spMkLst>
            <pc:docMk/>
            <pc:sldMk cId="4154917032" sldId="2536"/>
            <ac:spMk id="2" creationId="{B4410E19-D17F-4662-F0E5-7EDFCF0AAF3A}"/>
          </ac:spMkLst>
        </pc:spChg>
        <pc:spChg chg="add del mod">
          <ac:chgData name="Lucy Xiaolu Wang" userId="d9b7a544-9749-4aea-aeb2-781426814991" providerId="ADAL" clId="{D2B440C7-B5C3-4D99-B752-5950E0B588D6}" dt="2025-04-06T21:43:22.648" v="6011" actId="478"/>
          <ac:spMkLst>
            <pc:docMk/>
            <pc:sldMk cId="4154917032" sldId="2536"/>
            <ac:spMk id="3" creationId="{40594C53-D32F-3321-72C1-4A9921AE6B9D}"/>
          </ac:spMkLst>
        </pc:spChg>
        <pc:spChg chg="add mod">
          <ac:chgData name="Lucy Xiaolu Wang" userId="d9b7a544-9749-4aea-aeb2-781426814991" providerId="ADAL" clId="{D2B440C7-B5C3-4D99-B752-5950E0B588D6}" dt="2025-04-06T22:14:01.965" v="6168"/>
          <ac:spMkLst>
            <pc:docMk/>
            <pc:sldMk cId="4154917032" sldId="2536"/>
            <ac:spMk id="4" creationId="{0BE70E8C-51F7-235C-BEE0-40C0B41B1A21}"/>
          </ac:spMkLst>
        </pc:spChg>
        <pc:spChg chg="add del mod">
          <ac:chgData name="Lucy Xiaolu Wang" userId="d9b7a544-9749-4aea-aeb2-781426814991" providerId="ADAL" clId="{D2B440C7-B5C3-4D99-B752-5950E0B588D6}" dt="2025-04-06T22:06:56.420" v="6081" actId="20577"/>
          <ac:spMkLst>
            <pc:docMk/>
            <pc:sldMk cId="4154917032" sldId="2536"/>
            <ac:spMk id="6" creationId="{051959FE-A001-ABF0-4451-532B6939C159}"/>
          </ac:spMkLst>
        </pc:spChg>
        <pc:picChg chg="del mod">
          <ac:chgData name="Lucy Xiaolu Wang" userId="d9b7a544-9749-4aea-aeb2-781426814991" providerId="ADAL" clId="{D2B440C7-B5C3-4D99-B752-5950E0B588D6}" dt="2025-04-06T21:43:16.871" v="6009" actId="21"/>
          <ac:picMkLst>
            <pc:docMk/>
            <pc:sldMk cId="4154917032" sldId="2536"/>
            <ac:picMk id="5" creationId="{13444663-FADE-6305-0C4A-3AEB2933193F}"/>
          </ac:picMkLst>
        </pc:picChg>
      </pc:sldChg>
      <pc:sldChg chg="modSp mod ord modAnim">
        <pc:chgData name="Lucy Xiaolu Wang" userId="d9b7a544-9749-4aea-aeb2-781426814991" providerId="ADAL" clId="{D2B440C7-B5C3-4D99-B752-5950E0B588D6}" dt="2025-04-07T02:42:14.310" v="9191" actId="114"/>
        <pc:sldMkLst>
          <pc:docMk/>
          <pc:sldMk cId="1850255233" sldId="2537"/>
        </pc:sldMkLst>
        <pc:spChg chg="mod">
          <ac:chgData name="Lucy Xiaolu Wang" userId="d9b7a544-9749-4aea-aeb2-781426814991" providerId="ADAL" clId="{D2B440C7-B5C3-4D99-B752-5950E0B588D6}" dt="2025-04-07T02:42:14.310" v="9191" actId="114"/>
          <ac:spMkLst>
            <pc:docMk/>
            <pc:sldMk cId="1850255233" sldId="2537"/>
            <ac:spMk id="3" creationId="{A4B7B634-6E6C-1590-E51B-C7692F9D75CE}"/>
          </ac:spMkLst>
        </pc:spChg>
      </pc:sldChg>
      <pc:sldChg chg="addSp modSp mod modAnim">
        <pc:chgData name="Lucy Xiaolu Wang" userId="d9b7a544-9749-4aea-aeb2-781426814991" providerId="ADAL" clId="{D2B440C7-B5C3-4D99-B752-5950E0B588D6}" dt="2025-04-06T04:33:09.119" v="2066"/>
        <pc:sldMkLst>
          <pc:docMk/>
          <pc:sldMk cId="1140281838" sldId="2538"/>
        </pc:sldMkLst>
        <pc:spChg chg="mod">
          <ac:chgData name="Lucy Xiaolu Wang" userId="d9b7a544-9749-4aea-aeb2-781426814991" providerId="ADAL" clId="{D2B440C7-B5C3-4D99-B752-5950E0B588D6}" dt="2025-04-06T04:17:58.924" v="1264" actId="20577"/>
          <ac:spMkLst>
            <pc:docMk/>
            <pc:sldMk cId="1140281838" sldId="2538"/>
            <ac:spMk id="2" creationId="{7718D924-7D7B-6ECF-9831-08B62A75C4D3}"/>
          </ac:spMkLst>
        </pc:spChg>
        <pc:spChg chg="mod">
          <ac:chgData name="Lucy Xiaolu Wang" userId="d9b7a544-9749-4aea-aeb2-781426814991" providerId="ADAL" clId="{D2B440C7-B5C3-4D99-B752-5950E0B588D6}" dt="2025-04-06T04:25:47.822" v="1638" actId="14100"/>
          <ac:spMkLst>
            <pc:docMk/>
            <pc:sldMk cId="1140281838" sldId="2538"/>
            <ac:spMk id="3" creationId="{325E0341-22AA-845E-7E30-2DC5EB359C65}"/>
          </ac:spMkLst>
        </pc:spChg>
        <pc:spChg chg="add mod">
          <ac:chgData name="Lucy Xiaolu Wang" userId="d9b7a544-9749-4aea-aeb2-781426814991" providerId="ADAL" clId="{D2B440C7-B5C3-4D99-B752-5950E0B588D6}" dt="2025-04-06T04:25:56.219" v="1643" actId="1035"/>
          <ac:spMkLst>
            <pc:docMk/>
            <pc:sldMk cId="1140281838" sldId="2538"/>
            <ac:spMk id="4" creationId="{CD807510-3354-6E3B-E8B5-83ADFC0403B0}"/>
          </ac:spMkLst>
        </pc:spChg>
        <pc:spChg chg="add mod">
          <ac:chgData name="Lucy Xiaolu Wang" userId="d9b7a544-9749-4aea-aeb2-781426814991" providerId="ADAL" clId="{D2B440C7-B5C3-4D99-B752-5950E0B588D6}" dt="2025-04-06T04:32:53.774" v="2063" actId="1036"/>
          <ac:spMkLst>
            <pc:docMk/>
            <pc:sldMk cId="1140281838" sldId="2538"/>
            <ac:spMk id="5" creationId="{FD5A8FBA-5C84-8C99-795E-37BFA70BDDFB}"/>
          </ac:spMkLst>
        </pc:spChg>
        <pc:spChg chg="add mod">
          <ac:chgData name="Lucy Xiaolu Wang" userId="d9b7a544-9749-4aea-aeb2-781426814991" providerId="ADAL" clId="{D2B440C7-B5C3-4D99-B752-5950E0B588D6}" dt="2025-04-06T04:32:48.855" v="2062" actId="1036"/>
          <ac:spMkLst>
            <pc:docMk/>
            <pc:sldMk cId="1140281838" sldId="2538"/>
            <ac:spMk id="6" creationId="{DF78C488-6A8B-E5BF-20DD-0FDD9E36F38B}"/>
          </ac:spMkLst>
        </pc:spChg>
        <pc:picChg chg="mod">
          <ac:chgData name="Lucy Xiaolu Wang" userId="d9b7a544-9749-4aea-aeb2-781426814991" providerId="ADAL" clId="{D2B440C7-B5C3-4D99-B752-5950E0B588D6}" dt="2025-04-06T04:25:14.678" v="1618" actId="1076"/>
          <ac:picMkLst>
            <pc:docMk/>
            <pc:sldMk cId="1140281838" sldId="2538"/>
            <ac:picMk id="7" creationId="{B72836FB-F76F-4C6D-DE2F-04997B1E4A13}"/>
          </ac:picMkLst>
        </pc:picChg>
      </pc:sldChg>
      <pc:sldChg chg="modSp mod">
        <pc:chgData name="Lucy Xiaolu Wang" userId="d9b7a544-9749-4aea-aeb2-781426814991" providerId="ADAL" clId="{D2B440C7-B5C3-4D99-B752-5950E0B588D6}" dt="2025-04-07T03:36:22.196" v="12284" actId="14100"/>
        <pc:sldMkLst>
          <pc:docMk/>
          <pc:sldMk cId="367230750" sldId="2539"/>
        </pc:sldMkLst>
        <pc:spChg chg="mod">
          <ac:chgData name="Lucy Xiaolu Wang" userId="d9b7a544-9749-4aea-aeb2-781426814991" providerId="ADAL" clId="{D2B440C7-B5C3-4D99-B752-5950E0B588D6}" dt="2025-04-07T03:36:22.196" v="12284" actId="14100"/>
          <ac:spMkLst>
            <pc:docMk/>
            <pc:sldMk cId="367230750" sldId="2539"/>
            <ac:spMk id="2" creationId="{F1A3805D-B7A3-2B2B-9685-5B6B72C89A47}"/>
          </ac:spMkLst>
        </pc:spChg>
        <pc:spChg chg="mod">
          <ac:chgData name="Lucy Xiaolu Wang" userId="d9b7a544-9749-4aea-aeb2-781426814991" providerId="ADAL" clId="{D2B440C7-B5C3-4D99-B752-5950E0B588D6}" dt="2025-04-07T03:35:35.341" v="12259" actId="948"/>
          <ac:spMkLst>
            <pc:docMk/>
            <pc:sldMk cId="367230750" sldId="2539"/>
            <ac:spMk id="3" creationId="{F7F26F49-F4E7-E525-D44C-AE626ECB9A3A}"/>
          </ac:spMkLst>
        </pc:spChg>
      </pc:sldChg>
      <pc:sldChg chg="modSp mod modAnim">
        <pc:chgData name="Lucy Xiaolu Wang" userId="d9b7a544-9749-4aea-aeb2-781426814991" providerId="ADAL" clId="{D2B440C7-B5C3-4D99-B752-5950E0B588D6}" dt="2025-04-06T21:33:26.387" v="5484" actId="1036"/>
        <pc:sldMkLst>
          <pc:docMk/>
          <pc:sldMk cId="2791579873" sldId="2540"/>
        </pc:sldMkLst>
        <pc:spChg chg="mod">
          <ac:chgData name="Lucy Xiaolu Wang" userId="d9b7a544-9749-4aea-aeb2-781426814991" providerId="ADAL" clId="{D2B440C7-B5C3-4D99-B752-5950E0B588D6}" dt="2025-04-06T21:12:01.880" v="4637" actId="14100"/>
          <ac:spMkLst>
            <pc:docMk/>
            <pc:sldMk cId="2791579873" sldId="2540"/>
            <ac:spMk id="2" creationId="{BCEC3D2C-DB6F-8275-16AC-CCC72E2CEE24}"/>
          </ac:spMkLst>
        </pc:spChg>
        <pc:spChg chg="mod">
          <ac:chgData name="Lucy Xiaolu Wang" userId="d9b7a544-9749-4aea-aeb2-781426814991" providerId="ADAL" clId="{D2B440C7-B5C3-4D99-B752-5950E0B588D6}" dt="2025-04-06T21:32:15.647" v="5469" actId="20577"/>
          <ac:spMkLst>
            <pc:docMk/>
            <pc:sldMk cId="2791579873" sldId="2540"/>
            <ac:spMk id="3" creationId="{37306619-CA7A-45D7-EA17-39A24EE76B99}"/>
          </ac:spMkLst>
        </pc:spChg>
        <pc:picChg chg="mod">
          <ac:chgData name="Lucy Xiaolu Wang" userId="d9b7a544-9749-4aea-aeb2-781426814991" providerId="ADAL" clId="{D2B440C7-B5C3-4D99-B752-5950E0B588D6}" dt="2025-04-06T21:33:26.387" v="5484" actId="1036"/>
          <ac:picMkLst>
            <pc:docMk/>
            <pc:sldMk cId="2791579873" sldId="2540"/>
            <ac:picMk id="5" creationId="{F61D4CBB-74FD-DF68-E0E2-A72EDD366A57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8:38.208" v="7676" actId="1035"/>
        <pc:sldMkLst>
          <pc:docMk/>
          <pc:sldMk cId="3745350652" sldId="2543"/>
        </pc:sldMkLst>
        <pc:spChg chg="mod">
          <ac:chgData name="Lucy Xiaolu Wang" userId="d9b7a544-9749-4aea-aeb2-781426814991" providerId="ADAL" clId="{D2B440C7-B5C3-4D99-B752-5950E0B588D6}" dt="2025-04-06T22:42:30.148" v="7342" actId="20577"/>
          <ac:spMkLst>
            <pc:docMk/>
            <pc:sldMk cId="3745350652" sldId="2543"/>
            <ac:spMk id="2" creationId="{52B30918-B47C-3540-B37C-0764D5609C81}"/>
          </ac:spMkLst>
        </pc:spChg>
        <pc:spChg chg="mod">
          <ac:chgData name="Lucy Xiaolu Wang" userId="d9b7a544-9749-4aea-aeb2-781426814991" providerId="ADAL" clId="{D2B440C7-B5C3-4D99-B752-5950E0B588D6}" dt="2025-04-06T22:46:49.837" v="7538" actId="1035"/>
          <ac:spMkLst>
            <pc:docMk/>
            <pc:sldMk cId="3745350652" sldId="2543"/>
            <ac:spMk id="3" creationId="{232F5C35-DBC7-8D3C-F91D-2043A04C054E}"/>
          </ac:spMkLst>
        </pc:spChg>
        <pc:spChg chg="add mod">
          <ac:chgData name="Lucy Xiaolu Wang" userId="d9b7a544-9749-4aea-aeb2-781426814991" providerId="ADAL" clId="{D2B440C7-B5C3-4D99-B752-5950E0B588D6}" dt="2025-04-06T22:43:43.571" v="7472" actId="1038"/>
          <ac:spMkLst>
            <pc:docMk/>
            <pc:sldMk cId="3745350652" sldId="2543"/>
            <ac:spMk id="4" creationId="{C87CF006-8C51-F2DF-E859-54C95A2D9443}"/>
          </ac:spMkLst>
        </pc:spChg>
        <pc:picChg chg="mod">
          <ac:chgData name="Lucy Xiaolu Wang" userId="d9b7a544-9749-4aea-aeb2-781426814991" providerId="ADAL" clId="{D2B440C7-B5C3-4D99-B752-5950E0B588D6}" dt="2025-04-06T22:48:38.208" v="7676" actId="1035"/>
          <ac:picMkLst>
            <pc:docMk/>
            <pc:sldMk cId="3745350652" sldId="2543"/>
            <ac:picMk id="5" creationId="{68D2ACE3-40D2-826E-F90B-2E42336027E4}"/>
          </ac:picMkLst>
        </pc:picChg>
      </pc:sldChg>
      <pc:sldChg chg="addSp delSp modSp mod modAnim">
        <pc:chgData name="Lucy Xiaolu Wang" userId="d9b7a544-9749-4aea-aeb2-781426814991" providerId="ADAL" clId="{D2B440C7-B5C3-4D99-B752-5950E0B588D6}" dt="2025-04-06T20:23:08.720" v="3564" actId="20577"/>
        <pc:sldMkLst>
          <pc:docMk/>
          <pc:sldMk cId="2801509537" sldId="2544"/>
        </pc:sldMkLst>
        <pc:spChg chg="mod">
          <ac:chgData name="Lucy Xiaolu Wang" userId="d9b7a544-9749-4aea-aeb2-781426814991" providerId="ADAL" clId="{D2B440C7-B5C3-4D99-B752-5950E0B588D6}" dt="2025-04-06T04:34:31.471" v="2181" actId="1035"/>
          <ac:spMkLst>
            <pc:docMk/>
            <pc:sldMk cId="2801509537" sldId="2544"/>
            <ac:spMk id="2" creationId="{7F5D6746-4B50-FC99-31C2-00816713AF87}"/>
          </ac:spMkLst>
        </pc:spChg>
        <pc:spChg chg="add del mod">
          <ac:chgData name="Lucy Xiaolu Wang" userId="d9b7a544-9749-4aea-aeb2-781426814991" providerId="ADAL" clId="{D2B440C7-B5C3-4D99-B752-5950E0B588D6}" dt="2025-04-06T04:34:47.632" v="2185" actId="478"/>
          <ac:spMkLst>
            <pc:docMk/>
            <pc:sldMk cId="2801509537" sldId="2544"/>
            <ac:spMk id="3" creationId="{E10B0B33-AD78-C974-6B17-30B385D9D7C7}"/>
          </ac:spMkLst>
        </pc:spChg>
        <pc:spChg chg="add mod">
          <ac:chgData name="Lucy Xiaolu Wang" userId="d9b7a544-9749-4aea-aeb2-781426814991" providerId="ADAL" clId="{D2B440C7-B5C3-4D99-B752-5950E0B588D6}" dt="2025-04-06T04:35:16.683" v="2207"/>
          <ac:spMkLst>
            <pc:docMk/>
            <pc:sldMk cId="2801509537" sldId="2544"/>
            <ac:spMk id="4" creationId="{A1172BCB-6F5B-0DEB-6B57-F581D9A26C7F}"/>
          </ac:spMkLst>
        </pc:spChg>
        <pc:spChg chg="add mod">
          <ac:chgData name="Lucy Xiaolu Wang" userId="d9b7a544-9749-4aea-aeb2-781426814991" providerId="ADAL" clId="{D2B440C7-B5C3-4D99-B752-5950E0B588D6}" dt="2025-04-06T20:02:31.661" v="2797" actId="113"/>
          <ac:spMkLst>
            <pc:docMk/>
            <pc:sldMk cId="2801509537" sldId="2544"/>
            <ac:spMk id="6" creationId="{40F47873-2E5C-A7AD-F697-8A897D679B4E}"/>
          </ac:spMkLst>
        </pc:spChg>
        <pc:spChg chg="add mod">
          <ac:chgData name="Lucy Xiaolu Wang" userId="d9b7a544-9749-4aea-aeb2-781426814991" providerId="ADAL" clId="{D2B440C7-B5C3-4D99-B752-5950E0B588D6}" dt="2025-04-06T20:05:53.647" v="2964" actId="1036"/>
          <ac:spMkLst>
            <pc:docMk/>
            <pc:sldMk cId="2801509537" sldId="2544"/>
            <ac:spMk id="7" creationId="{76C09EC5-2C64-D108-0A96-78B4D08F7EAD}"/>
          </ac:spMkLst>
        </pc:spChg>
        <pc:spChg chg="add mod">
          <ac:chgData name="Lucy Xiaolu Wang" userId="d9b7a544-9749-4aea-aeb2-781426814991" providerId="ADAL" clId="{D2B440C7-B5C3-4D99-B752-5950E0B588D6}" dt="2025-04-06T20:23:08.720" v="3564" actId="20577"/>
          <ac:spMkLst>
            <pc:docMk/>
            <pc:sldMk cId="2801509537" sldId="2544"/>
            <ac:spMk id="8" creationId="{587E01E1-7DCC-AEE4-7860-940A6BB9E98C}"/>
          </ac:spMkLst>
        </pc:spChg>
        <pc:spChg chg="add mod">
          <ac:chgData name="Lucy Xiaolu Wang" userId="d9b7a544-9749-4aea-aeb2-781426814991" providerId="ADAL" clId="{D2B440C7-B5C3-4D99-B752-5950E0B588D6}" dt="2025-04-06T20:05:32.994" v="2951" actId="1076"/>
          <ac:spMkLst>
            <pc:docMk/>
            <pc:sldMk cId="2801509537" sldId="2544"/>
            <ac:spMk id="9" creationId="{E863E1A3-8DA0-B7E3-7DC1-65DE5F34A234}"/>
          </ac:spMkLst>
        </pc:spChg>
        <pc:picChg chg="mod">
          <ac:chgData name="Lucy Xiaolu Wang" userId="d9b7a544-9749-4aea-aeb2-781426814991" providerId="ADAL" clId="{D2B440C7-B5C3-4D99-B752-5950E0B588D6}" dt="2025-04-06T20:11:02.507" v="3335" actId="1036"/>
          <ac:picMkLst>
            <pc:docMk/>
            <pc:sldMk cId="2801509537" sldId="2544"/>
            <ac:picMk id="5" creationId="{14150335-D13F-C627-2FF2-F24F99D08F44}"/>
          </ac:picMkLst>
        </pc:picChg>
      </pc:sldChg>
      <pc:sldChg chg="delSp modSp mod delAnim modAnim">
        <pc:chgData name="Lucy Xiaolu Wang" userId="d9b7a544-9749-4aea-aeb2-781426814991" providerId="ADAL" clId="{D2B440C7-B5C3-4D99-B752-5950E0B588D6}" dt="2025-04-06T22:33:05.197" v="6417" actId="20577"/>
        <pc:sldMkLst>
          <pc:docMk/>
          <pc:sldMk cId="1207921352" sldId="2545"/>
        </pc:sldMkLst>
        <pc:spChg chg="mod">
          <ac:chgData name="Lucy Xiaolu Wang" userId="d9b7a544-9749-4aea-aeb2-781426814991" providerId="ADAL" clId="{D2B440C7-B5C3-4D99-B752-5950E0B588D6}" dt="2025-04-06T20:12:09.095" v="3398" actId="20577"/>
          <ac:spMkLst>
            <pc:docMk/>
            <pc:sldMk cId="1207921352" sldId="2545"/>
            <ac:spMk id="2" creationId="{65D7243C-08CB-153F-2481-701CC8C92145}"/>
          </ac:spMkLst>
        </pc:spChg>
        <pc:spChg chg="mod">
          <ac:chgData name="Lucy Xiaolu Wang" userId="d9b7a544-9749-4aea-aeb2-781426814991" providerId="ADAL" clId="{D2B440C7-B5C3-4D99-B752-5950E0B588D6}" dt="2025-04-06T22:33:05.197" v="6417" actId="20577"/>
          <ac:spMkLst>
            <pc:docMk/>
            <pc:sldMk cId="1207921352" sldId="2545"/>
            <ac:spMk id="3" creationId="{3D06C454-DD3E-B4E5-77D9-2FDAC901037E}"/>
          </ac:spMkLst>
        </pc:spChg>
        <pc:picChg chg="del mod">
          <ac:chgData name="Lucy Xiaolu Wang" userId="d9b7a544-9749-4aea-aeb2-781426814991" providerId="ADAL" clId="{D2B440C7-B5C3-4D99-B752-5950E0B588D6}" dt="2025-04-06T22:32:24.361" v="6382" actId="21"/>
          <ac:picMkLst>
            <pc:docMk/>
            <pc:sldMk cId="1207921352" sldId="2545"/>
            <ac:picMk id="5" creationId="{6A1CD41A-65BA-BF2A-E7FB-C3FABD10AE22}"/>
          </ac:picMkLst>
        </pc:picChg>
      </pc:sldChg>
      <pc:sldChg chg="addSp delSp modSp mod">
        <pc:chgData name="Lucy Xiaolu Wang" userId="d9b7a544-9749-4aea-aeb2-781426814991" providerId="ADAL" clId="{D2B440C7-B5C3-4D99-B752-5950E0B588D6}" dt="2025-04-06T21:34:07.971" v="5511" actId="478"/>
        <pc:sldMkLst>
          <pc:docMk/>
          <pc:sldMk cId="4139680034" sldId="2546"/>
        </pc:sldMkLst>
        <pc:spChg chg="mod">
          <ac:chgData name="Lucy Xiaolu Wang" userId="d9b7a544-9749-4aea-aeb2-781426814991" providerId="ADAL" clId="{D2B440C7-B5C3-4D99-B752-5950E0B588D6}" dt="2025-04-06T21:05:29.762" v="4583" actId="20577"/>
          <ac:spMkLst>
            <pc:docMk/>
            <pc:sldMk cId="4139680034" sldId="2546"/>
            <ac:spMk id="2" creationId="{701B907B-B911-0CFA-90BD-0E7FAEBCEDC6}"/>
          </ac:spMkLst>
        </pc:spChg>
        <pc:spChg chg="add del mod">
          <ac:chgData name="Lucy Xiaolu Wang" userId="d9b7a544-9749-4aea-aeb2-781426814991" providerId="ADAL" clId="{D2B440C7-B5C3-4D99-B752-5950E0B588D6}" dt="2025-04-06T21:34:07.971" v="5511" actId="478"/>
          <ac:spMkLst>
            <pc:docMk/>
            <pc:sldMk cId="4139680034" sldId="2546"/>
            <ac:spMk id="4" creationId="{D5CA2526-29F0-1BB4-3C77-32F1D961D07C}"/>
          </ac:spMkLst>
        </pc:spChg>
        <pc:picChg chg="mod">
          <ac:chgData name="Lucy Xiaolu Wang" userId="d9b7a544-9749-4aea-aeb2-781426814991" providerId="ADAL" clId="{D2B440C7-B5C3-4D99-B752-5950E0B588D6}" dt="2025-04-06T21:33:50.277" v="5495" actId="1038"/>
          <ac:picMkLst>
            <pc:docMk/>
            <pc:sldMk cId="4139680034" sldId="2546"/>
            <ac:picMk id="5" creationId="{C0F8A89D-3720-AA73-E613-5481F215C4F0}"/>
          </ac:picMkLst>
        </pc:picChg>
      </pc:sldChg>
      <pc:sldChg chg="del">
        <pc:chgData name="Lucy Xiaolu Wang" userId="d9b7a544-9749-4aea-aeb2-781426814991" providerId="ADAL" clId="{D2B440C7-B5C3-4D99-B752-5950E0B588D6}" dt="2025-04-06T22:19:32.937" v="6268" actId="2696"/>
        <pc:sldMkLst>
          <pc:docMk/>
          <pc:sldMk cId="615589391" sldId="2547"/>
        </pc:sldMkLst>
      </pc:sldChg>
      <pc:sldChg chg="addSp modSp add mod">
        <pc:chgData name="Lucy Xiaolu Wang" userId="d9b7a544-9749-4aea-aeb2-781426814991" providerId="ADAL" clId="{D2B440C7-B5C3-4D99-B752-5950E0B588D6}" dt="2025-04-06T22:20:14.500" v="6295" actId="1038"/>
        <pc:sldMkLst>
          <pc:docMk/>
          <pc:sldMk cId="2717411637" sldId="2547"/>
        </pc:sldMkLst>
        <pc:spChg chg="add mod">
          <ac:chgData name="Lucy Xiaolu Wang" userId="d9b7a544-9749-4aea-aeb2-781426814991" providerId="ADAL" clId="{D2B440C7-B5C3-4D99-B752-5950E0B588D6}" dt="2025-04-06T22:20:14.500" v="6295" actId="1038"/>
          <ac:spMkLst>
            <pc:docMk/>
            <pc:sldMk cId="2717411637" sldId="2547"/>
            <ac:spMk id="3" creationId="{5D20070B-83E8-33A3-F8B2-120935492362}"/>
          </ac:spMkLst>
        </pc:spChg>
        <pc:picChg chg="mod">
          <ac:chgData name="Lucy Xiaolu Wang" userId="d9b7a544-9749-4aea-aeb2-781426814991" providerId="ADAL" clId="{D2B440C7-B5C3-4D99-B752-5950E0B588D6}" dt="2025-04-06T22:20:07.220" v="6288" actId="1038"/>
          <ac:picMkLst>
            <pc:docMk/>
            <pc:sldMk cId="2717411637" sldId="2547"/>
            <ac:picMk id="5" creationId="{554D13D9-F323-47E7-6E2E-4A285562408A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1:57.980" v="7300" actId="1076"/>
        <pc:sldMkLst>
          <pc:docMk/>
          <pc:sldMk cId="3274144665" sldId="2548"/>
        </pc:sldMkLst>
        <pc:spChg chg="mod">
          <ac:chgData name="Lucy Xiaolu Wang" userId="d9b7a544-9749-4aea-aeb2-781426814991" providerId="ADAL" clId="{D2B440C7-B5C3-4D99-B752-5950E0B588D6}" dt="2025-04-06T22:39:34.728" v="7073" actId="20577"/>
          <ac:spMkLst>
            <pc:docMk/>
            <pc:sldMk cId="3274144665" sldId="2548"/>
            <ac:spMk id="2" creationId="{3705CB60-2202-DE5E-4FD6-B957E9DBA906}"/>
          </ac:spMkLst>
        </pc:spChg>
        <pc:spChg chg="mod">
          <ac:chgData name="Lucy Xiaolu Wang" userId="d9b7a544-9749-4aea-aeb2-781426814991" providerId="ADAL" clId="{D2B440C7-B5C3-4D99-B752-5950E0B588D6}" dt="2025-04-06T22:41:52.282" v="7299" actId="14100"/>
          <ac:spMkLst>
            <pc:docMk/>
            <pc:sldMk cId="3274144665" sldId="2548"/>
            <ac:spMk id="3" creationId="{D2C00D84-EC44-0C2C-6A17-1207B9F28D87}"/>
          </ac:spMkLst>
        </pc:spChg>
        <pc:spChg chg="add mod">
          <ac:chgData name="Lucy Xiaolu Wang" userId="d9b7a544-9749-4aea-aeb2-781426814991" providerId="ADAL" clId="{D2B440C7-B5C3-4D99-B752-5950E0B588D6}" dt="2025-04-06T22:41:57.980" v="7300" actId="1076"/>
          <ac:spMkLst>
            <pc:docMk/>
            <pc:sldMk cId="3274144665" sldId="2548"/>
            <ac:spMk id="4" creationId="{D0B0873F-7DB1-4E14-BA86-50BEDC0C01A2}"/>
          </ac:spMkLst>
        </pc:spChg>
        <pc:picChg chg="mod">
          <ac:chgData name="Lucy Xiaolu Wang" userId="d9b7a544-9749-4aea-aeb2-781426814991" providerId="ADAL" clId="{D2B440C7-B5C3-4D99-B752-5950E0B588D6}" dt="2025-04-06T22:41:43.654" v="7298" actId="1038"/>
          <ac:picMkLst>
            <pc:docMk/>
            <pc:sldMk cId="3274144665" sldId="2548"/>
            <ac:picMk id="5" creationId="{FAF33DA4-48AF-47B0-49FA-6CA5351B33F9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8:31.560" v="7674" actId="1076"/>
        <pc:sldMkLst>
          <pc:docMk/>
          <pc:sldMk cId="2306224190" sldId="2549"/>
        </pc:sldMkLst>
        <pc:spChg chg="mod">
          <ac:chgData name="Lucy Xiaolu Wang" userId="d9b7a544-9749-4aea-aeb2-781426814991" providerId="ADAL" clId="{D2B440C7-B5C3-4D99-B752-5950E0B588D6}" dt="2025-04-06T22:48:05.090" v="7626" actId="20577"/>
          <ac:spMkLst>
            <pc:docMk/>
            <pc:sldMk cId="2306224190" sldId="2549"/>
            <ac:spMk id="2" creationId="{09B4C02B-4C76-23C9-A5FA-1191C68A2B92}"/>
          </ac:spMkLst>
        </pc:spChg>
        <pc:spChg chg="add mod">
          <ac:chgData name="Lucy Xiaolu Wang" userId="d9b7a544-9749-4aea-aeb2-781426814991" providerId="ADAL" clId="{D2B440C7-B5C3-4D99-B752-5950E0B588D6}" dt="2025-04-06T22:48:31.560" v="7674" actId="1076"/>
          <ac:spMkLst>
            <pc:docMk/>
            <pc:sldMk cId="2306224190" sldId="2549"/>
            <ac:spMk id="4" creationId="{D26555FC-1946-477A-FE64-2C3E94A7AB7E}"/>
          </ac:spMkLst>
        </pc:spChg>
        <pc:picChg chg="mod">
          <ac:chgData name="Lucy Xiaolu Wang" userId="d9b7a544-9749-4aea-aeb2-781426814991" providerId="ADAL" clId="{D2B440C7-B5C3-4D99-B752-5950E0B588D6}" dt="2025-04-06T22:48:24.016" v="7673" actId="1036"/>
          <ac:picMkLst>
            <pc:docMk/>
            <pc:sldMk cId="2306224190" sldId="2549"/>
            <ac:picMk id="7" creationId="{75D89FD3-0653-DDD5-FF38-557E1E85C498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38:31.701" v="6949" actId="20577"/>
        <pc:sldMkLst>
          <pc:docMk/>
          <pc:sldMk cId="1336599825" sldId="2550"/>
        </pc:sldMkLst>
        <pc:spChg chg="mod">
          <ac:chgData name="Lucy Xiaolu Wang" userId="d9b7a544-9749-4aea-aeb2-781426814991" providerId="ADAL" clId="{D2B440C7-B5C3-4D99-B752-5950E0B588D6}" dt="2025-04-06T22:38:31.701" v="6949" actId="20577"/>
          <ac:spMkLst>
            <pc:docMk/>
            <pc:sldMk cId="1336599825" sldId="2550"/>
            <ac:spMk id="2" creationId="{605887F4-7207-434E-701F-F3F8CC772220}"/>
          </ac:spMkLst>
        </pc:spChg>
        <pc:spChg chg="add mod">
          <ac:chgData name="Lucy Xiaolu Wang" userId="d9b7a544-9749-4aea-aeb2-781426814991" providerId="ADAL" clId="{D2B440C7-B5C3-4D99-B752-5950E0B588D6}" dt="2025-04-06T22:17:37.244" v="6242" actId="1076"/>
          <ac:spMkLst>
            <pc:docMk/>
            <pc:sldMk cId="1336599825" sldId="2550"/>
            <ac:spMk id="3" creationId="{32BC4C7F-8513-66AF-231A-93503B190B58}"/>
          </ac:spMkLst>
        </pc:spChg>
        <pc:spChg chg="mod">
          <ac:chgData name="Lucy Xiaolu Wang" userId="d9b7a544-9749-4aea-aeb2-781426814991" providerId="ADAL" clId="{D2B440C7-B5C3-4D99-B752-5950E0B588D6}" dt="2025-04-06T22:38:10.794" v="6931" actId="20577"/>
          <ac:spMkLst>
            <pc:docMk/>
            <pc:sldMk cId="1336599825" sldId="2550"/>
            <ac:spMk id="6" creationId="{686F014D-BF1F-F5EB-CC89-72FECA92F64E}"/>
          </ac:spMkLst>
        </pc:spChg>
        <pc:picChg chg="mod">
          <ac:chgData name="Lucy Xiaolu Wang" userId="d9b7a544-9749-4aea-aeb2-781426814991" providerId="ADAL" clId="{D2B440C7-B5C3-4D99-B752-5950E0B588D6}" dt="2025-04-06T22:36:33.185" v="6798" actId="1035"/>
          <ac:picMkLst>
            <pc:docMk/>
            <pc:sldMk cId="1336599825" sldId="2550"/>
            <ac:picMk id="5" creationId="{E1321B77-BDF8-5C0B-3B7F-FC5424C0BB1B}"/>
          </ac:picMkLst>
        </pc:picChg>
      </pc:sldChg>
      <pc:sldChg chg="modSp new mod ord modAnim">
        <pc:chgData name="Lucy Xiaolu Wang" userId="d9b7a544-9749-4aea-aeb2-781426814991" providerId="ADAL" clId="{D2B440C7-B5C3-4D99-B752-5950E0B588D6}" dt="2025-04-07T03:32:41.550" v="12119" actId="20577"/>
        <pc:sldMkLst>
          <pc:docMk/>
          <pc:sldMk cId="2212945133" sldId="2551"/>
        </pc:sldMkLst>
        <pc:spChg chg="mod">
          <ac:chgData name="Lucy Xiaolu Wang" userId="d9b7a544-9749-4aea-aeb2-781426814991" providerId="ADAL" clId="{D2B440C7-B5C3-4D99-B752-5950E0B588D6}" dt="2025-04-07T03:04:41.271" v="10823" actId="20577"/>
          <ac:spMkLst>
            <pc:docMk/>
            <pc:sldMk cId="2212945133" sldId="2551"/>
            <ac:spMk id="2" creationId="{00BB3C2E-44C0-05BF-29F9-63AF8F4DA1CD}"/>
          </ac:spMkLst>
        </pc:spChg>
        <pc:spChg chg="mod">
          <ac:chgData name="Lucy Xiaolu Wang" userId="d9b7a544-9749-4aea-aeb2-781426814991" providerId="ADAL" clId="{D2B440C7-B5C3-4D99-B752-5950E0B588D6}" dt="2025-04-07T03:32:41.550" v="12119" actId="20577"/>
          <ac:spMkLst>
            <pc:docMk/>
            <pc:sldMk cId="2212945133" sldId="2551"/>
            <ac:spMk id="3" creationId="{9B6BB676-A878-DFD6-D13A-081F7A97194D}"/>
          </ac:spMkLst>
        </pc:spChg>
      </pc:sldChg>
      <pc:sldChg chg="modSp new mod">
        <pc:chgData name="Lucy Xiaolu Wang" userId="d9b7a544-9749-4aea-aeb2-781426814991" providerId="ADAL" clId="{D2B440C7-B5C3-4D99-B752-5950E0B588D6}" dt="2025-04-06T21:34:51.380" v="5641" actId="20577"/>
        <pc:sldMkLst>
          <pc:docMk/>
          <pc:sldMk cId="3385551082" sldId="2552"/>
        </pc:sldMkLst>
        <pc:spChg chg="mod">
          <ac:chgData name="Lucy Xiaolu Wang" userId="d9b7a544-9749-4aea-aeb2-781426814991" providerId="ADAL" clId="{D2B440C7-B5C3-4D99-B752-5950E0B588D6}" dt="2025-04-06T21:34:51.380" v="5641" actId="20577"/>
          <ac:spMkLst>
            <pc:docMk/>
            <pc:sldMk cId="3385551082" sldId="2552"/>
            <ac:spMk id="2" creationId="{AB7EEDD7-CCF5-0327-B6EC-F99A7924B3DB}"/>
          </ac:spMkLst>
        </pc:spChg>
      </pc:sldChg>
      <pc:sldChg chg="modSp new mod">
        <pc:chgData name="Lucy Xiaolu Wang" userId="d9b7a544-9749-4aea-aeb2-781426814991" providerId="ADAL" clId="{D2B440C7-B5C3-4D99-B752-5950E0B588D6}" dt="2025-04-06T21:35:11.145" v="5670" actId="20577"/>
        <pc:sldMkLst>
          <pc:docMk/>
          <pc:sldMk cId="889365270" sldId="2553"/>
        </pc:sldMkLst>
        <pc:spChg chg="mod">
          <ac:chgData name="Lucy Xiaolu Wang" userId="d9b7a544-9749-4aea-aeb2-781426814991" providerId="ADAL" clId="{D2B440C7-B5C3-4D99-B752-5950E0B588D6}" dt="2025-04-06T21:35:11.145" v="5670" actId="20577"/>
          <ac:spMkLst>
            <pc:docMk/>
            <pc:sldMk cId="889365270" sldId="2553"/>
            <ac:spMk id="2" creationId="{2D0B2B07-A768-C56F-2887-58F2944E2A66}"/>
          </ac:spMkLst>
        </pc:spChg>
      </pc:sldChg>
      <pc:sldChg chg="addSp delSp modSp new mod">
        <pc:chgData name="Lucy Xiaolu Wang" userId="d9b7a544-9749-4aea-aeb2-781426814991" providerId="ADAL" clId="{D2B440C7-B5C3-4D99-B752-5950E0B588D6}" dt="2025-04-06T22:17:59.340" v="6267" actId="20577"/>
        <pc:sldMkLst>
          <pc:docMk/>
          <pc:sldMk cId="3533919817" sldId="2554"/>
        </pc:sldMkLst>
        <pc:spChg chg="mod">
          <ac:chgData name="Lucy Xiaolu Wang" userId="d9b7a544-9749-4aea-aeb2-781426814991" providerId="ADAL" clId="{D2B440C7-B5C3-4D99-B752-5950E0B588D6}" dt="2025-04-06T21:39:08.898" v="5731" actId="20577"/>
          <ac:spMkLst>
            <pc:docMk/>
            <pc:sldMk cId="3533919817" sldId="2554"/>
            <ac:spMk id="2" creationId="{4FB18746-E17F-EACE-E9CC-84DF086B4E7B}"/>
          </ac:spMkLst>
        </pc:spChg>
        <pc:spChg chg="del">
          <ac:chgData name="Lucy Xiaolu Wang" userId="d9b7a544-9749-4aea-aeb2-781426814991" providerId="ADAL" clId="{D2B440C7-B5C3-4D99-B752-5950E0B588D6}" dt="2025-04-06T21:38:17.214" v="5672"/>
          <ac:spMkLst>
            <pc:docMk/>
            <pc:sldMk cId="3533919817" sldId="2554"/>
            <ac:spMk id="3" creationId="{629B9708-B63A-9B74-3C96-7553E5404AA4}"/>
          </ac:spMkLst>
        </pc:spChg>
        <pc:spChg chg="add mod">
          <ac:chgData name="Lucy Xiaolu Wang" userId="d9b7a544-9749-4aea-aeb2-781426814991" providerId="ADAL" clId="{D2B440C7-B5C3-4D99-B752-5950E0B588D6}" dt="2025-04-06T22:17:59.340" v="6267" actId="20577"/>
          <ac:spMkLst>
            <pc:docMk/>
            <pc:sldMk cId="3533919817" sldId="2554"/>
            <ac:spMk id="7" creationId="{4A979FF1-C278-0B86-E8CC-2BEA1103CA98}"/>
          </ac:spMkLst>
        </pc:spChg>
        <pc:picChg chg="add mod">
          <ac:chgData name="Lucy Xiaolu Wang" userId="d9b7a544-9749-4aea-aeb2-781426814991" providerId="ADAL" clId="{D2B440C7-B5C3-4D99-B752-5950E0B588D6}" dt="2025-04-06T21:42:31.868" v="5994" actId="1036"/>
          <ac:picMkLst>
            <pc:docMk/>
            <pc:sldMk cId="3533919817" sldId="2554"/>
            <ac:picMk id="5" creationId="{370B2562-4F56-6BEA-3BA6-E6194FFF8748}"/>
          </ac:picMkLst>
        </pc:picChg>
      </pc:sldChg>
      <pc:sldChg chg="addSp modSp new mod">
        <pc:chgData name="Lucy Xiaolu Wang" userId="d9b7a544-9749-4aea-aeb2-781426814991" providerId="ADAL" clId="{D2B440C7-B5C3-4D99-B752-5950E0B588D6}" dt="2025-04-06T22:14:37.502" v="6169"/>
        <pc:sldMkLst>
          <pc:docMk/>
          <pc:sldMk cId="1995091999" sldId="2555"/>
        </pc:sldMkLst>
        <pc:spChg chg="mod">
          <ac:chgData name="Lucy Xiaolu Wang" userId="d9b7a544-9749-4aea-aeb2-781426814991" providerId="ADAL" clId="{D2B440C7-B5C3-4D99-B752-5950E0B588D6}" dt="2025-04-06T21:44:33.132" v="6067" actId="20577"/>
          <ac:spMkLst>
            <pc:docMk/>
            <pc:sldMk cId="1995091999" sldId="2555"/>
            <ac:spMk id="2" creationId="{CA088C4A-5AEE-A5E3-936E-6A2C80AB1E75}"/>
          </ac:spMkLst>
        </pc:spChg>
        <pc:spChg chg="add mod">
          <ac:chgData name="Lucy Xiaolu Wang" userId="d9b7a544-9749-4aea-aeb2-781426814991" providerId="ADAL" clId="{D2B440C7-B5C3-4D99-B752-5950E0B588D6}" dt="2025-04-06T22:14:37.502" v="6169"/>
          <ac:spMkLst>
            <pc:docMk/>
            <pc:sldMk cId="1995091999" sldId="2555"/>
            <ac:spMk id="4" creationId="{31F83634-F06F-0E03-2DB5-2D2B70A2E3E0}"/>
          </ac:spMkLst>
        </pc:spChg>
        <pc:picChg chg="add mod">
          <ac:chgData name="Lucy Xiaolu Wang" userId="d9b7a544-9749-4aea-aeb2-781426814991" providerId="ADAL" clId="{D2B440C7-B5C3-4D99-B752-5950E0B588D6}" dt="2025-04-06T21:45:45.170" v="6078" actId="14100"/>
          <ac:picMkLst>
            <pc:docMk/>
            <pc:sldMk cId="1995091999" sldId="2555"/>
            <ac:picMk id="5" creationId="{13444663-FADE-6305-0C4A-3AEB2933193F}"/>
          </ac:picMkLst>
        </pc:picChg>
      </pc:sldChg>
      <pc:sldChg chg="addSp modSp new mod modAnim">
        <pc:chgData name="Lucy Xiaolu Wang" userId="d9b7a544-9749-4aea-aeb2-781426814991" providerId="ADAL" clId="{D2B440C7-B5C3-4D99-B752-5950E0B588D6}" dt="2025-04-07T03:34:48.615" v="12206" actId="1036"/>
        <pc:sldMkLst>
          <pc:docMk/>
          <pc:sldMk cId="1981419128" sldId="2556"/>
        </pc:sldMkLst>
        <pc:spChg chg="mod">
          <ac:chgData name="Lucy Xiaolu Wang" userId="d9b7a544-9749-4aea-aeb2-781426814991" providerId="ADAL" clId="{D2B440C7-B5C3-4D99-B752-5950E0B588D6}" dt="2025-04-07T03:34:48.615" v="12206" actId="1036"/>
          <ac:spMkLst>
            <pc:docMk/>
            <pc:sldMk cId="1981419128" sldId="2556"/>
            <ac:spMk id="2" creationId="{BD1C9D3E-EDC1-B6E8-2255-4A406379E0BB}"/>
          </ac:spMkLst>
        </pc:spChg>
        <pc:picChg chg="add mod">
          <ac:chgData name="Lucy Xiaolu Wang" userId="d9b7a544-9749-4aea-aeb2-781426814991" providerId="ADAL" clId="{D2B440C7-B5C3-4D99-B752-5950E0B588D6}" dt="2025-04-06T22:32:27.241" v="6383"/>
          <ac:picMkLst>
            <pc:docMk/>
            <pc:sldMk cId="1981419128" sldId="2556"/>
            <ac:picMk id="5" creationId="{6A1CD41A-65BA-BF2A-E7FB-C3FABD10AE22}"/>
          </ac:picMkLst>
        </pc:picChg>
      </pc:sldChg>
      <pc:sldChg chg="modSp new mod">
        <pc:chgData name="Lucy Xiaolu Wang" userId="d9b7a544-9749-4aea-aeb2-781426814991" providerId="ADAL" clId="{D2B440C7-B5C3-4D99-B752-5950E0B588D6}" dt="2025-04-06T22:50:11.458" v="7724" actId="20577"/>
        <pc:sldMkLst>
          <pc:docMk/>
          <pc:sldMk cId="3341933792" sldId="2557"/>
        </pc:sldMkLst>
        <pc:spChg chg="mod">
          <ac:chgData name="Lucy Xiaolu Wang" userId="d9b7a544-9749-4aea-aeb2-781426814991" providerId="ADAL" clId="{D2B440C7-B5C3-4D99-B752-5950E0B588D6}" dt="2025-04-06T22:50:11.458" v="7724" actId="20577"/>
          <ac:spMkLst>
            <pc:docMk/>
            <pc:sldMk cId="3341933792" sldId="2557"/>
            <ac:spMk id="2" creationId="{E884083A-52AB-DBDF-8229-DCC23E1D96EB}"/>
          </ac:spMkLst>
        </pc:spChg>
      </pc:sldChg>
      <pc:sldChg chg="modSp new mod">
        <pc:chgData name="Lucy Xiaolu Wang" userId="d9b7a544-9749-4aea-aeb2-781426814991" providerId="ADAL" clId="{D2B440C7-B5C3-4D99-B752-5950E0B588D6}" dt="2025-04-07T01:30:37.072" v="8176" actId="20577"/>
        <pc:sldMkLst>
          <pc:docMk/>
          <pc:sldMk cId="2295297459" sldId="2558"/>
        </pc:sldMkLst>
        <pc:spChg chg="mod">
          <ac:chgData name="Lucy Xiaolu Wang" userId="d9b7a544-9749-4aea-aeb2-781426814991" providerId="ADAL" clId="{D2B440C7-B5C3-4D99-B752-5950E0B588D6}" dt="2025-04-07T01:30:37.072" v="8176" actId="20577"/>
          <ac:spMkLst>
            <pc:docMk/>
            <pc:sldMk cId="2295297459" sldId="2558"/>
            <ac:spMk id="2" creationId="{2B73647E-1A25-38CB-1511-29F11EA4D646}"/>
          </ac:spMkLst>
        </pc:spChg>
      </pc:sldChg>
      <pc:sldChg chg="modSp new del mod">
        <pc:chgData name="Lucy Xiaolu Wang" userId="d9b7a544-9749-4aea-aeb2-781426814991" providerId="ADAL" clId="{D2B440C7-B5C3-4D99-B752-5950E0B588D6}" dt="2025-04-07T01:27:09.158" v="7782" actId="47"/>
        <pc:sldMkLst>
          <pc:docMk/>
          <pc:sldMk cId="3844104045" sldId="2558"/>
        </pc:sldMkLst>
        <pc:spChg chg="mod">
          <ac:chgData name="Lucy Xiaolu Wang" userId="d9b7a544-9749-4aea-aeb2-781426814991" providerId="ADAL" clId="{D2B440C7-B5C3-4D99-B752-5950E0B588D6}" dt="2025-04-06T22:51:09.907" v="7781" actId="20577"/>
          <ac:spMkLst>
            <pc:docMk/>
            <pc:sldMk cId="3844104045" sldId="2558"/>
            <ac:spMk id="2" creationId="{27D5D81D-82F5-E9D5-E875-B9C7883EF04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72" y="0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/>
          <a:lstStyle>
            <a:lvl1pPr algn="r">
              <a:defRPr sz="1200"/>
            </a:lvl1pPr>
          </a:lstStyle>
          <a:p>
            <a:fld id="{82E9C598-3BF1-4694-A618-906526EBDB0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823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72" y="8829823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 anchor="b"/>
          <a:lstStyle>
            <a:lvl1pPr algn="r">
              <a:defRPr sz="1200"/>
            </a:lvl1pPr>
          </a:lstStyle>
          <a:p>
            <a:fld id="{AE281EA1-3E15-4CE9-A336-3B9FA06DA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707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r">
              <a:defRPr sz="1200"/>
            </a:lvl1pPr>
          </a:lstStyle>
          <a:p>
            <a:fld id="{0766526C-24B6-4CAB-8E8E-85A13ADA1832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1" tIns="46586" rIns="93171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80"/>
          </a:xfrm>
          <a:prstGeom prst="rect">
            <a:avLst/>
          </a:prstGeom>
        </p:spPr>
        <p:txBody>
          <a:bodyPr vert="horz" lIns="93171" tIns="46586" rIns="93171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6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r">
              <a:defRPr sz="1200"/>
            </a:lvl1pPr>
          </a:lstStyle>
          <a:p>
            <a:fld id="{963F5536-7C40-4D79-8D59-3C9CBA8A02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616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EEA = </a:t>
            </a:r>
            <a:r>
              <a:rPr lang="en-US" sz="1800" b="0" i="0" u="none" strike="noStrike" baseline="0" dirty="0">
                <a:latin typeface="NimbusRomNo9L-Regu"/>
              </a:rPr>
              <a:t>European Union member states, Iceland, Liechtenstein, and Norway.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84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Mayo v. Prometheus (2012):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adjust drug dosage based on metabolite levels – not patent-eligible</a:t>
            </a:r>
            <a:r>
              <a:rPr lang="en-US" dirty="0"/>
              <a:t>; </a:t>
            </a:r>
          </a:p>
          <a:p>
            <a:r>
              <a:rPr lang="en-US" dirty="0"/>
              <a:t>Association for Molecular Pathology v. Myriad Genetics, Inc. (2013): naturally occur genes are not patent eligible. </a:t>
            </a:r>
          </a:p>
        </p:txBody>
      </p:sp>
    </p:spTree>
    <p:extLst>
      <p:ext uri="{BB962C8B-B14F-4D97-AF65-F5344CB8AC3E}">
        <p14:creationId xmlns:p14="http://schemas.microsoft.com/office/powerpoint/2010/main" val="3862481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time-to-approval in our sample: 10 years</a:t>
            </a:r>
          </a:p>
        </p:txBody>
      </p:sp>
    </p:spTree>
    <p:extLst>
      <p:ext uri="{BB962C8B-B14F-4D97-AF65-F5344CB8AC3E}">
        <p14:creationId xmlns:p14="http://schemas.microsoft.com/office/powerpoint/2010/main" val="4293167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primary patents do not fall into one ICD-9 disease category: congenital anomalies</a:t>
            </a:r>
          </a:p>
        </p:txBody>
      </p:sp>
    </p:spTree>
    <p:extLst>
      <p:ext uri="{BB962C8B-B14F-4D97-AF65-F5344CB8AC3E}">
        <p14:creationId xmlns:p14="http://schemas.microsoft.com/office/powerpoint/2010/main" val="272286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6.xml"/><Relationship Id="rId1" Type="http://schemas.openxmlformats.org/officeDocument/2006/relationships/themeOverride" Target="../theme/themeOverride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075048"/>
            <a:ext cx="8321675" cy="159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9718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308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Aft>
                <a:spcPts val="1200"/>
              </a:spcAft>
              <a:defRPr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5977C-3ED8-4D7F-8127-DEA07EE9A0E1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6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Aft>
                <a:spcPts val="1000"/>
              </a:spcAft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5977C-3ED8-4D7F-8127-DEA07EE9A0E1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78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11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74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282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B08C7-66E7-46A8-9F1D-B8DE7418C065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49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789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098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316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7993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0352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9560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9890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30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232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672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93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0904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0206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901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5542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4983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17124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39049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03739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7832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7512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272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6855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53941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1874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783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930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26083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40377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4349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7812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609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5369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9626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12797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9891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54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5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94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7791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pitchFamily="18" charset="2"/>
              <a:ea typeface="ＭＳ Ｐゴシック" pitchFamily="34" charset="-128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94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Arial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271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46246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9.xml"/><Relationship Id="rId7" Type="http://schemas.openxmlformats.org/officeDocument/2006/relationships/slide" Target="slide32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6.xml"/><Relationship Id="rId5" Type="http://schemas.openxmlformats.org/officeDocument/2006/relationships/slide" Target="slide35.xml"/><Relationship Id="rId10" Type="http://schemas.openxmlformats.org/officeDocument/2006/relationships/slide" Target="slide31.xml"/><Relationship Id="rId4" Type="http://schemas.openxmlformats.org/officeDocument/2006/relationships/slide" Target="slide34.xml"/><Relationship Id="rId9" Type="http://schemas.openxmlformats.org/officeDocument/2006/relationships/slide" Target="slide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huhj2@rpi.edu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xiaoluwang@umass.edu" TargetMode="External"/><Relationship Id="rId4" Type="http://schemas.openxmlformats.org/officeDocument/2006/relationships/hyperlink" Target="mailto:jianjinglin@umass.edu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91B6E28-201B-C653-5E9E-C42F1F2B4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825" y="3200400"/>
            <a:ext cx="7315200" cy="3638549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Jason Huh</a:t>
            </a:r>
            <a:r>
              <a:rPr lang="en-US" baseline="30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Jianjing</a:t>
            </a:r>
            <a:r>
              <a:rPr lang="en-US" dirty="0">
                <a:cs typeface="Arial" panose="020B0604020202020204" pitchFamily="34" charset="0"/>
              </a:rPr>
              <a:t> Lin</a:t>
            </a:r>
            <a:r>
              <a:rPr lang="en-US" baseline="30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and Lucy Xiaolu Wang</a:t>
            </a:r>
            <a:r>
              <a:rPr lang="en-US" baseline="30000" dirty="0">
                <a:cs typeface="Arial" panose="020B0604020202020204" pitchFamily="34" charset="0"/>
              </a:rPr>
              <a:t>2,3,4</a:t>
            </a:r>
            <a:endParaRPr lang="en-US" dirty="0">
              <a:cs typeface="Arial" panose="020B0604020202020204" pitchFamily="34" charset="0"/>
            </a:endParaRPr>
          </a:p>
          <a:p>
            <a:endParaRPr lang="en-US" sz="1600" dirty="0">
              <a:cs typeface="Arial" panose="020B0604020202020204" pitchFamily="34" charset="0"/>
            </a:endParaRPr>
          </a:p>
          <a:p>
            <a:r>
              <a:rPr lang="en-US" baseline="30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Rensselaer Polytechnic Institute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University of Massachusetts Amherst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3</a:t>
            </a:r>
            <a:r>
              <a:rPr lang="en-US" dirty="0">
                <a:cs typeface="Arial" panose="020B0604020202020204" pitchFamily="34" charset="0"/>
              </a:rPr>
              <a:t> Max Planck Institute for Innovation and Competition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4</a:t>
            </a:r>
            <a:r>
              <a:rPr lang="en-US" dirty="0">
                <a:cs typeface="Arial" panose="020B0604020202020204" pitchFamily="34" charset="0"/>
              </a:rPr>
              <a:t> Canadian Centre for Health Economics</a:t>
            </a:r>
            <a:endParaRPr lang="en-US" sz="1500" dirty="0">
              <a:cs typeface="Arial" panose="020B0604020202020204" pitchFamily="34" charset="0"/>
            </a:endParaRPr>
          </a:p>
          <a:p>
            <a:endParaRPr lang="en-US" sz="2500" dirty="0">
              <a:cs typeface="Arial" panose="020B0604020202020204" pitchFamily="34" charset="0"/>
            </a:endParaRPr>
          </a:p>
          <a:p>
            <a:r>
              <a:rPr lang="en-US" i="1" dirty="0">
                <a:solidFill>
                  <a:srgbClr val="0070C0"/>
                </a:solidFill>
                <a:effectLst/>
                <a:cs typeface="Arial" panose="020B0604020202020204" pitchFamily="34" charset="0"/>
              </a:rPr>
              <a:t>CSSI seminar, UMass Amherst</a:t>
            </a:r>
          </a:p>
          <a:p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2026.4.17</a:t>
            </a:r>
            <a:endParaRPr lang="en-US" i="1" dirty="0">
              <a:solidFill>
                <a:srgbClr val="0070C0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B13336-80B7-BCED-10D3-CFF6F00A4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5" y="1447800"/>
            <a:ext cx="8458200" cy="838200"/>
          </a:xfrm>
        </p:spPr>
        <p:txBody>
          <a:bodyPr/>
          <a:lstStyle/>
          <a:p>
            <a:r>
              <a:rPr lang="en-US" sz="3000" dirty="0"/>
              <a:t>Health IT Diffusion and Physician Density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373810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5BED-D490-6D33-E068-79CC7930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Rising US HIT investments enables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418D1-C42E-BED7-6D01-0794D030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44" y="1253249"/>
            <a:ext cx="8534400" cy="5638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US allocated over $30 billion to health IT adoption (e.g., EHR)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2"/>
                </a:solidFill>
              </a:rPr>
              <a:t>Health Information Technology for Economic and Clinical Health (HITECH) Act and indirect provisions in Affordable Care Act (ACA) 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Extensive research on HIT impact on quality and cost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But: limited understanding of </a:t>
            </a:r>
            <a:r>
              <a:rPr lang="en-US" dirty="0">
                <a:solidFill>
                  <a:srgbClr val="0070C0"/>
                </a:solidFill>
              </a:rPr>
              <a:t>HIT</a:t>
            </a:r>
            <a:r>
              <a:rPr lang="en-US" dirty="0"/>
              <a:t> impact on </a:t>
            </a:r>
            <a:r>
              <a:rPr lang="en-US" dirty="0">
                <a:solidFill>
                  <a:srgbClr val="0070C0"/>
                </a:solidFill>
              </a:rPr>
              <a:t>physician density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chemeClr val="bg2"/>
                </a:solidFill>
              </a:rPr>
              <a:t>Focus: </a:t>
            </a:r>
            <a:r>
              <a:rPr lang="en-US" b="1" dirty="0">
                <a:solidFill>
                  <a:schemeClr val="bg2"/>
                </a:solidFill>
              </a:rPr>
              <a:t>C</a:t>
            </a:r>
            <a:r>
              <a:rPr lang="en-US" dirty="0">
                <a:solidFill>
                  <a:schemeClr val="bg2"/>
                </a:solidFill>
              </a:rPr>
              <a:t>omputerized </a:t>
            </a:r>
            <a:r>
              <a:rPr lang="en-US" b="1" dirty="0">
                <a:solidFill>
                  <a:schemeClr val="bg2"/>
                </a:solidFill>
              </a:rPr>
              <a:t>P</a:t>
            </a:r>
            <a:r>
              <a:rPr lang="en-US" dirty="0">
                <a:solidFill>
                  <a:schemeClr val="bg2"/>
                </a:solidFill>
              </a:rPr>
              <a:t>rovider </a:t>
            </a:r>
            <a:r>
              <a:rPr lang="en-US" b="1" dirty="0">
                <a:solidFill>
                  <a:schemeClr val="bg2"/>
                </a:solidFill>
              </a:rPr>
              <a:t>O</a:t>
            </a:r>
            <a:r>
              <a:rPr lang="en-US" dirty="0">
                <a:solidFill>
                  <a:schemeClr val="bg2"/>
                </a:solidFill>
              </a:rPr>
              <a:t>rder </a:t>
            </a:r>
            <a:r>
              <a:rPr lang="en-US" b="1" dirty="0">
                <a:solidFill>
                  <a:schemeClr val="bg2"/>
                </a:solidFill>
              </a:rPr>
              <a:t>E</a:t>
            </a:r>
            <a:r>
              <a:rPr lang="en-US" dirty="0">
                <a:solidFill>
                  <a:schemeClr val="bg2"/>
                </a:solidFill>
              </a:rPr>
              <a:t>ntry (CPOE), an advanced HIT and the key component of HITECH Meaningful Use (MU) criteria</a:t>
            </a:r>
          </a:p>
          <a:p>
            <a:pPr lvl="2"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E-enter treatment orders, integrate patient info and clinical guidelines, and communicate with pharmacy, laboratory, and other departments 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chemeClr val="bg2"/>
                </a:solidFill>
              </a:rPr>
              <a:t>In contrast, basic HIT systems, e.g., clinical decision systems, store patient data in digital database and provide clinical treatment support 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Research question: How does </a:t>
            </a:r>
            <a:r>
              <a:rPr lang="en-US" dirty="0">
                <a:solidFill>
                  <a:srgbClr val="0070C0"/>
                </a:solidFill>
              </a:rPr>
              <a:t>advanced HIT adoption</a:t>
            </a:r>
            <a:r>
              <a:rPr lang="en-US" dirty="0"/>
              <a:t> affect </a:t>
            </a:r>
            <a:r>
              <a:rPr lang="en-US" dirty="0">
                <a:solidFill>
                  <a:srgbClr val="0070C0"/>
                </a:solidFill>
              </a:rPr>
              <a:t>aggregate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hospital-based (HB) physician density </a:t>
            </a:r>
            <a:r>
              <a:rPr lang="en-US" dirty="0"/>
              <a:t>at the county level?</a:t>
            </a:r>
          </a:p>
          <a:p>
            <a:pPr lvl="1">
              <a:spcBef>
                <a:spcPts val="0"/>
              </a:spcBef>
            </a:pPr>
            <a:r>
              <a:rPr lang="en-US" dirty="0"/>
              <a:t># physicians</a:t>
            </a:r>
            <a:r>
              <a:rPr lang="en-US" dirty="0">
                <a:solidFill>
                  <a:srgbClr val="0070C0"/>
                </a:solidFill>
              </a:rPr>
              <a:t> per 100k </a:t>
            </a:r>
            <a:r>
              <a:rPr lang="en-US" dirty="0"/>
              <a:t>population, </a:t>
            </a:r>
            <a:r>
              <a:rPr lang="en-US" dirty="0">
                <a:solidFill>
                  <a:srgbClr val="0070C0"/>
                </a:solidFill>
              </a:rPr>
              <a:t>financial</a:t>
            </a:r>
            <a:r>
              <a:rPr lang="en-US" dirty="0"/>
              <a:t> measures, patient </a:t>
            </a:r>
            <a:r>
              <a:rPr lang="en-US" dirty="0">
                <a:solidFill>
                  <a:srgbClr val="0070C0"/>
                </a:solidFill>
              </a:rPr>
              <a:t>care volume</a:t>
            </a:r>
          </a:p>
        </p:txBody>
      </p:sp>
    </p:spTree>
    <p:extLst>
      <p:ext uri="{BB962C8B-B14F-4D97-AF65-F5344CB8AC3E}">
        <p14:creationId xmlns:p14="http://schemas.microsoft.com/office/powerpoint/2010/main" val="255738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6A59-FDA8-4032-5E88-274C3FB0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472A-48C4-1BB0-85D7-A2182E08C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514599"/>
            <a:ext cx="8305800" cy="41052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Intuitively, aggregate physician rate can go either way (empirical Qs):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More: “Time to hire more physicians to take full advantage of HIT!”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Less: “Time to automate and reduce docs (recover costs from HIT)!”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Same: “Docs come and go, on the net things may stay similar?”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dirty="0"/>
              <a:t>Exploit the county-level sharp adoption of advanced HIT (CPOE)</a:t>
            </a:r>
          </a:p>
          <a:p>
            <a:r>
              <a:rPr lang="en-US" dirty="0"/>
              <a:t>Show how the plausibly exogenous HIT diffusion patterns affect county-level HB physician per 100k pop, the heterogeneity by specialties, physician career stage, physician shortage area status</a:t>
            </a:r>
          </a:p>
          <a:p>
            <a:r>
              <a:rPr lang="en-US" dirty="0"/>
              <a:t>Test financial mechanism and downstream impact on care utilization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C8522A-6E7C-9232-0FFB-7E4FE7C30B9E}"/>
              </a:ext>
            </a:extLst>
          </p:cNvPr>
          <p:cNvSpPr/>
          <p:nvPr/>
        </p:nvSpPr>
        <p:spPr>
          <a:xfrm>
            <a:off x="647700" y="1066800"/>
            <a:ext cx="7848600" cy="1066800"/>
          </a:xfrm>
          <a:prstGeom prst="round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Q: How does advanced HIT adoption affect aggregate hospital-based physician density at the county level?</a:t>
            </a:r>
          </a:p>
        </p:txBody>
      </p:sp>
    </p:spTree>
    <p:extLst>
      <p:ext uri="{BB962C8B-B14F-4D97-AF65-F5344CB8AC3E}">
        <p14:creationId xmlns:p14="http://schemas.microsoft.com/office/powerpoint/2010/main" val="225165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3C2E-44C0-05BF-29F9-63AF8F4D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of Methods and Results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B676-A878-DFD6-D13A-081F7A97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90600"/>
            <a:ext cx="9067800" cy="5638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Methods: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Event-study approach à la East et al. (AER 2023), leveraging the sharp increase in adoption rates to separate sample into treatment and control groups</a:t>
            </a:r>
          </a:p>
          <a:p>
            <a:pPr lvl="2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Here: use sharp increase in county-level advanced HIT adoption rate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Compare HB physicians per 100k in counties with rapid diffusion vs controls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Use De </a:t>
            </a:r>
            <a:r>
              <a:rPr lang="en-US" dirty="0" err="1"/>
              <a:t>Chaisemartin</a:t>
            </a:r>
            <a:r>
              <a:rPr lang="en-US" dirty="0"/>
              <a:t> &amp; </a:t>
            </a:r>
            <a:r>
              <a:rPr lang="en-US" dirty="0" err="1"/>
              <a:t>d’Haultfoeuille</a:t>
            </a:r>
            <a:r>
              <a:rPr lang="en-US" dirty="0"/>
              <a:t> (2024) as our main </a:t>
            </a:r>
            <a:r>
              <a:rPr lang="en-US" dirty="0" err="1"/>
              <a:t>DiD</a:t>
            </a:r>
            <a:r>
              <a:rPr lang="en-US" dirty="0"/>
              <a:t> estimator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Robust to other </a:t>
            </a:r>
            <a:r>
              <a:rPr lang="en-US" dirty="0" err="1"/>
              <a:t>DiD</a:t>
            </a:r>
            <a:r>
              <a:rPr lang="en-US" dirty="0"/>
              <a:t> estimators, continuous D, count data Y, other specifications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Main results: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11.1% increase in county-level HB physicians per 100k post HIT adoption</a:t>
            </a:r>
          </a:p>
          <a:p>
            <a:pPr lvl="2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Effects primarily driven by medical and surgical specialties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Stronger effects among early-career docs and in areas with doc shortages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Physicians (hospitals) in treated counties received higher payments (profits)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Increased outpatient surgeries in counties w/ moderate pre-period volumes</a:t>
            </a:r>
          </a:p>
        </p:txBody>
      </p:sp>
    </p:spTree>
    <p:extLst>
      <p:ext uri="{BB962C8B-B14F-4D97-AF65-F5344CB8AC3E}">
        <p14:creationId xmlns:p14="http://schemas.microsoft.com/office/powerpoint/2010/main" val="221294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A387-992A-C43C-FFCF-992E9EF3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and Contribution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30B10-6B4D-6AD2-434E-933EB28E3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38" y="1018160"/>
            <a:ext cx="8820150" cy="5638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The impact of Health IT</a:t>
            </a:r>
            <a:r>
              <a:rPr lang="en-US" dirty="0"/>
              <a:t>: new evidence on how HIT automation affect aggregate physician labor density (high-skilled labor), and how the effects vary by specialty, career stage, shortage area status, and care utilization.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50" dirty="0">
                <a:solidFill>
                  <a:schemeClr val="bg2"/>
                </a:solidFill>
              </a:rPr>
              <a:t>(Miller &amp; Tucker, 2011; Agha, 2014; </a:t>
            </a:r>
            <a:r>
              <a:rPr lang="en-US" sz="1750" dirty="0" err="1">
                <a:solidFill>
                  <a:schemeClr val="bg2"/>
                </a:solidFill>
              </a:rPr>
              <a:t>Dranove</a:t>
            </a:r>
            <a:r>
              <a:rPr lang="en-US" sz="1750" dirty="0">
                <a:solidFill>
                  <a:schemeClr val="bg2"/>
                </a:solidFill>
              </a:rPr>
              <a:t> et al., 2014; McCullough and </a:t>
            </a:r>
            <a:r>
              <a:rPr lang="en-US" sz="1750" dirty="0" err="1">
                <a:solidFill>
                  <a:schemeClr val="bg2"/>
                </a:solidFill>
              </a:rPr>
              <a:t>Snir</a:t>
            </a:r>
            <a:r>
              <a:rPr lang="en-US" sz="1750" dirty="0">
                <a:solidFill>
                  <a:schemeClr val="bg2"/>
                </a:solidFill>
              </a:rPr>
              <a:t>, 2010; McCullough et al., 2016; Freedman et al., 2018; Lu et al., 2018; Greenwood et al., 2019; Wang, 2021; Wang &amp; Bloch, 2023; Lin &amp; Olson, 2024; Glenn, 2026)</a:t>
            </a:r>
          </a:p>
          <a:p>
            <a:pPr marL="457200" lvl="1" indent="0">
              <a:buNone/>
            </a:pPr>
            <a:endParaRPr lang="en-US" sz="2000" dirty="0">
              <a:highlight>
                <a:srgbClr val="FFFF00"/>
              </a:highlight>
            </a:endParaRPr>
          </a:p>
          <a:p>
            <a:pPr>
              <a:spcBef>
                <a:spcPts val="0"/>
              </a:spcBef>
            </a:pPr>
            <a:r>
              <a:rPr lang="en-US" b="1" dirty="0"/>
              <a:t>Physician labor supply</a:t>
            </a:r>
            <a:r>
              <a:rPr lang="en-US" dirty="0"/>
              <a:t>: new technological angle that combines market-driven incentives and policy-led changes in the past decades, and study how digital technologies affect physicians, hospitals, and care provisions.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50" dirty="0">
                <a:solidFill>
                  <a:schemeClr val="bg2"/>
                </a:solidFill>
              </a:rPr>
              <a:t>(Baker &amp; Royalty, 2000; Garthwaite, 2012; </a:t>
            </a:r>
            <a:r>
              <a:rPr lang="en-US" sz="1750" dirty="0" err="1">
                <a:solidFill>
                  <a:schemeClr val="bg2"/>
                </a:solidFill>
              </a:rPr>
              <a:t>Buchmueller</a:t>
            </a:r>
            <a:r>
              <a:rPr lang="en-US" sz="1750" dirty="0">
                <a:solidFill>
                  <a:schemeClr val="bg2"/>
                </a:solidFill>
              </a:rPr>
              <a:t> et al., 2016; </a:t>
            </a:r>
            <a:r>
              <a:rPr lang="en-US" sz="1750" dirty="0" err="1">
                <a:solidFill>
                  <a:schemeClr val="bg2"/>
                </a:solidFill>
              </a:rPr>
              <a:t>Falcettoni</a:t>
            </a:r>
            <a:r>
              <a:rPr lang="en-US" sz="1750" dirty="0">
                <a:solidFill>
                  <a:schemeClr val="bg2"/>
                </a:solidFill>
              </a:rPr>
              <a:t>, 2018; Kulka &amp; McWeeny, 2018; </a:t>
            </a:r>
            <a:r>
              <a:rPr lang="en-US" sz="1750" dirty="0" err="1">
                <a:solidFill>
                  <a:schemeClr val="bg2"/>
                </a:solidFill>
              </a:rPr>
              <a:t>Neprash</a:t>
            </a:r>
            <a:r>
              <a:rPr lang="en-US" sz="1750" dirty="0">
                <a:solidFill>
                  <a:schemeClr val="bg2"/>
                </a:solidFill>
              </a:rPr>
              <a:t> et al., 2018; Huh, 2021; Curto &amp; Bhole, 2022; Huh &amp; Lin 2024; Khoury et al., 2024)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>
              <a:spcBef>
                <a:spcPts val="0"/>
              </a:spcBef>
            </a:pPr>
            <a:r>
              <a:rPr lang="en-US" b="1" dirty="0"/>
              <a:t>Policy implications</a:t>
            </a:r>
            <a:r>
              <a:rPr lang="en-US" dirty="0"/>
              <a:t> and relevant insights for managerial practices. HIT investment can attract physicians, expand access to care (reduce disparity in access), while sustaining providers’ financial health.</a:t>
            </a:r>
          </a:p>
        </p:txBody>
      </p:sp>
    </p:spTree>
    <p:extLst>
      <p:ext uri="{BB962C8B-B14F-4D97-AF65-F5344CB8AC3E}">
        <p14:creationId xmlns:p14="http://schemas.microsoft.com/office/powerpoint/2010/main" val="302317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2B7A-A354-519F-EDFE-4B8191A7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Institutional context and HIT adoption trends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3B36D-52D3-85AB-463D-EBAFA67DF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71500"/>
            <a:ext cx="9096374" cy="5600699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endParaRPr lang="en-US" sz="100" dirty="0">
              <a:solidFill>
                <a:schemeClr val="bg2"/>
              </a:solidFill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Electronic health records (EHRs), the core component of HIT, were invented in 1970s but saw limited adoption until the 2000s. We focus on hospital HIT.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2010s: widespread hospital HIT adoption, driven by federal incentives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2009 HITECH Act provides incentive payments for HIT meaningful use (MU); ACA indirect incentives (initiatives/provisions) require/facilitate HIT use.</a:t>
            </a:r>
            <a:endParaRPr lang="en-US" sz="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 descr="A graph of a graph and a graph of a graph&#10;&#10;AI-generated content may be incorrect.">
            <a:extLst>
              <a:ext uri="{FF2B5EF4-FFF2-40B4-BE49-F238E27FC236}">
                <a16:creationId xmlns:a16="http://schemas.microsoft.com/office/drawing/2014/main" id="{F51360FC-3A11-C232-311C-F6B3AA2F1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4" y="2562225"/>
            <a:ext cx="885825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1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0E19-D17F-4662-F0E5-7EDFCF0A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adoption measures: CPOE &amp; its functionality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1959FE-A001-ABF0-4451-532B6939C159}"/>
              </a:ext>
            </a:extLst>
          </p:cNvPr>
          <p:cNvSpPr txBox="1">
            <a:spLocks/>
          </p:cNvSpPr>
          <p:nvPr/>
        </p:nvSpPr>
        <p:spPr bwMode="auto">
          <a:xfrm>
            <a:off x="219075" y="714376"/>
            <a:ext cx="8763000" cy="2257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ts val="120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-128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+mn-cs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3pPr>
            <a:lvl4pPr marL="15986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4pPr>
            <a:lvl5pPr marL="20542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5pPr>
            <a:lvl6pPr marL="2512248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9022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793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564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Computerized Provider Order Entry (CPOE): </a:t>
            </a:r>
            <a:r>
              <a:rPr lang="en-US" sz="1800" kern="0" dirty="0"/>
              <a:t>advanced HIT, </a:t>
            </a:r>
            <a:r>
              <a:rPr lang="en-US" sz="1800" kern="0" dirty="0">
                <a:solidFill>
                  <a:srgbClr val="0070C0"/>
                </a:solidFill>
              </a:rPr>
              <a:t>automation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Enable providers to </a:t>
            </a:r>
            <a:r>
              <a:rPr lang="en-US" kern="0" dirty="0">
                <a:solidFill>
                  <a:srgbClr val="0070C0"/>
                </a:solidFill>
              </a:rPr>
              <a:t>electronically enter</a:t>
            </a:r>
            <a:r>
              <a:rPr lang="en-US" kern="0" dirty="0"/>
              <a:t> medication, laboratory, and radiology orders, often with built-in </a:t>
            </a:r>
            <a:r>
              <a:rPr lang="en-US" kern="0" dirty="0">
                <a:solidFill>
                  <a:srgbClr val="0070C0"/>
                </a:solidFill>
              </a:rPr>
              <a:t>clinical decision support</a:t>
            </a:r>
            <a:r>
              <a:rPr lang="en-US" kern="0" dirty="0"/>
              <a:t> tools, core in </a:t>
            </a:r>
            <a:r>
              <a:rPr lang="en-US" kern="0" dirty="0">
                <a:solidFill>
                  <a:srgbClr val="0070C0"/>
                </a:solidFill>
              </a:rPr>
              <a:t>MU criteria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Unlike other HIT component, CPOE directly </a:t>
            </a:r>
            <a:r>
              <a:rPr lang="en-US" kern="0" dirty="0">
                <a:solidFill>
                  <a:srgbClr val="0070C0"/>
                </a:solidFill>
              </a:rPr>
              <a:t>structures patient data</a:t>
            </a:r>
            <a:r>
              <a:rPr lang="en-US" kern="0" dirty="0"/>
              <a:t> to </a:t>
            </a:r>
            <a:r>
              <a:rPr lang="en-US" kern="0" dirty="0">
                <a:solidFill>
                  <a:srgbClr val="0070C0"/>
                </a:solidFill>
              </a:rPr>
              <a:t>align with coding and billing requirements</a:t>
            </a:r>
            <a:r>
              <a:rPr lang="en-US" kern="0" dirty="0"/>
              <a:t>, esp. relevant when payment matters</a:t>
            </a:r>
          </a:p>
          <a:p>
            <a:pPr marL="457200" lvl="1" indent="0">
              <a:spcBef>
                <a:spcPts val="0"/>
              </a:spcBef>
              <a:spcAft>
                <a:spcPts val="1000"/>
              </a:spcAft>
              <a:buNone/>
            </a:pPr>
            <a:endParaRPr lang="en-US" kern="0" dirty="0"/>
          </a:p>
        </p:txBody>
      </p:sp>
      <p:pic>
        <p:nvPicPr>
          <p:cNvPr id="3" name="Content Placeholder 4" descr="A screenshot of a medical program&#10;&#10;AI-generated content may be incorrect.">
            <a:extLst>
              <a:ext uri="{FF2B5EF4-FFF2-40B4-BE49-F238E27FC236}">
                <a16:creationId xmlns:a16="http://schemas.microsoft.com/office/drawing/2014/main" id="{404B62E3-2ED8-DB56-C86A-F8012BDC6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8342" y="2307624"/>
            <a:ext cx="6324058" cy="457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491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E2B8-938D-7C89-2BCC-9A857C51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B634-6E6C-1590-E51B-C7692F9D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" y="990600"/>
            <a:ext cx="8905875" cy="58293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Local physician density (per 100k pop) is affected by aggregating individual </a:t>
            </a:r>
            <a:r>
              <a:rPr lang="en-US" dirty="0">
                <a:solidFill>
                  <a:srgbClr val="0070C0"/>
                </a:solidFill>
              </a:rPr>
              <a:t>location choices</a:t>
            </a:r>
            <a:r>
              <a:rPr lang="en-US" dirty="0"/>
              <a:t> and broader </a:t>
            </a:r>
            <a:r>
              <a:rPr lang="en-US" dirty="0">
                <a:solidFill>
                  <a:srgbClr val="0070C0"/>
                </a:solidFill>
              </a:rPr>
              <a:t>market dynamics</a:t>
            </a:r>
            <a:r>
              <a:rPr lang="en-US" dirty="0"/>
              <a:t>.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3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Hospitals</a:t>
            </a:r>
            <a:r>
              <a:rPr lang="en-US" dirty="0"/>
              <a:t>’ perspectives: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investment can affect strategic hiring of docs to fully leverage technology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Esp in geo-areas with </a:t>
            </a:r>
            <a:r>
              <a:rPr lang="en-US" i="1" dirty="0"/>
              <a:t>moderate</a:t>
            </a:r>
            <a:r>
              <a:rPr lang="en-US" dirty="0"/>
              <a:t> but </a:t>
            </a:r>
            <a:r>
              <a:rPr lang="en-US" i="1" dirty="0"/>
              <a:t>growing</a:t>
            </a:r>
            <a:r>
              <a:rPr lang="en-US" dirty="0"/>
              <a:t> demand for medical services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If increase patient throughput, boost revenue -&gt; can hire/retain more docs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endParaRPr lang="en-US" sz="6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Physicians</a:t>
            </a:r>
            <a:r>
              <a:rPr lang="en-US" dirty="0"/>
              <a:t>’ perspectives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Response to HIT diffusion may vary by specialty, career stage, tech-savviness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can be a pull factor for early-career physicians adapted to digital tech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endParaRPr lang="en-US" sz="6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Patients</a:t>
            </a:r>
            <a:r>
              <a:rPr lang="en-US" dirty="0"/>
              <a:t>’ perspectives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can make access to services more convenient with faster scheduling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can seek elective procedures earlier and easier (limited sorting within county)</a:t>
            </a:r>
          </a:p>
        </p:txBody>
      </p:sp>
    </p:spTree>
    <p:extLst>
      <p:ext uri="{BB962C8B-B14F-4D97-AF65-F5344CB8AC3E}">
        <p14:creationId xmlns:p14="http://schemas.microsoft.com/office/powerpoint/2010/main" val="185025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120F-B00F-57C7-C6C9-C9E76878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dirty="0"/>
              <a:t>Data Construction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742E-547C-BDBF-DDE1-8625B6C2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904875"/>
            <a:ext cx="8782050" cy="56769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Physician supply data</a:t>
            </a:r>
            <a:r>
              <a:rPr lang="en-US" dirty="0"/>
              <a:t>: Area Health Resources Files (AHRF)</a:t>
            </a:r>
          </a:p>
          <a:p>
            <a:pPr lvl="1">
              <a:spcBef>
                <a:spcPts val="0"/>
              </a:spcBef>
            </a:pPr>
            <a:r>
              <a:rPr lang="en-US" dirty="0"/>
              <a:t>Hospital-based (HB) physicians: non-federal MDs under hospital contracts providing direct patient care, measured as rate per 100k county population</a:t>
            </a:r>
            <a:endParaRPr lang="en-US" sz="1400" dirty="0"/>
          </a:p>
          <a:p>
            <a:pPr lvl="1">
              <a:spcBef>
                <a:spcPts val="0"/>
              </a:spcBef>
            </a:pPr>
            <a:r>
              <a:rPr lang="en-US" b="1" dirty="0">
                <a:solidFill>
                  <a:schemeClr val="bg2"/>
                </a:solidFill>
              </a:rPr>
              <a:t>Specialty categorization</a:t>
            </a:r>
            <a:r>
              <a:rPr lang="en-US" dirty="0">
                <a:solidFill>
                  <a:schemeClr val="bg2"/>
                </a:solidFill>
              </a:rPr>
              <a:t>: medical, surgical, general practitioners, others</a:t>
            </a:r>
            <a:endParaRPr lang="en-US" sz="1500" dirty="0">
              <a:solidFill>
                <a:schemeClr val="bg2"/>
              </a:solidFill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Health IT adoption data</a:t>
            </a:r>
            <a:r>
              <a:rPr lang="en-US" sz="2000" dirty="0"/>
              <a:t>: Healthcare Information and Management Systems Society (HIMSS) Analytics Database</a:t>
            </a:r>
          </a:p>
          <a:p>
            <a:pPr lvl="1"/>
            <a:r>
              <a:rPr lang="en-US" dirty="0"/>
              <a:t>Records basic and advanced HIT adoption by hospitals, including CPOE</a:t>
            </a:r>
          </a:p>
          <a:p>
            <a:pPr lvl="1"/>
            <a:r>
              <a:rPr lang="en-US" dirty="0"/>
              <a:t>County-level adoption rate weighted by capacity (hospital beds)</a:t>
            </a:r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Medicare provider and service data</a:t>
            </a:r>
            <a:r>
              <a:rPr lang="en-US" dirty="0"/>
              <a:t>: CMS </a:t>
            </a:r>
            <a:r>
              <a:rPr lang="en-US" sz="2000" dirty="0"/>
              <a:t>Medicare physician &amp; other </a:t>
            </a:r>
            <a:r>
              <a:rPr lang="en-US" dirty="0"/>
              <a:t>p</a:t>
            </a:r>
            <a:r>
              <a:rPr lang="en-US" sz="2000" dirty="0"/>
              <a:t>ractitioners by provider and service dataset (available starting 2013)</a:t>
            </a:r>
            <a:endParaRPr lang="en-US" dirty="0"/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Market structure and profit data</a:t>
            </a:r>
            <a:r>
              <a:rPr lang="en-US" dirty="0"/>
              <a:t>: Healthcare Provider Cost Reporting Information System (HCRIS), CMS; calculate hospital HHI and profit</a:t>
            </a:r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Sample</a:t>
            </a:r>
            <a:r>
              <a:rPr lang="en-US" dirty="0"/>
              <a:t>: ~2,394 US counties during 2006-2018 outcome years matched with one-year lagged HIT adoption (excl. 2009 b/c missing AHRF data)</a:t>
            </a: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F4E10-2E89-1873-3365-4F34616CC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6229350"/>
            <a:ext cx="2752725" cy="495300"/>
          </a:xfrm>
          <a:prstGeom prst="rect">
            <a:avLst/>
          </a:prstGeom>
        </p:spPr>
      </p:pic>
      <p:pic>
        <p:nvPicPr>
          <p:cNvPr id="7" name="Picture 2" descr="Home">
            <a:extLst>
              <a:ext uri="{FF2B5EF4-FFF2-40B4-BE49-F238E27FC236}">
                <a16:creationId xmlns:a16="http://schemas.microsoft.com/office/drawing/2014/main" id="{1F2C2725-562C-E136-9530-2131D0B04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5815905"/>
            <a:ext cx="2667000" cy="124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enters for Medicare &amp; Medicaid Services - Wikipedia">
            <a:extLst>
              <a:ext uri="{FF2B5EF4-FFF2-40B4-BE49-F238E27FC236}">
                <a16:creationId xmlns:a16="http://schemas.microsoft.com/office/drawing/2014/main" id="{1C90FF2B-B3A6-9426-DCAD-62B20755F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5972175"/>
            <a:ext cx="2314575" cy="81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45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0D717C-05CE-0D02-503C-325CA501F6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199"/>
            <a:ext cx="9144000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562F1B-786D-0FA2-10FE-CA26966F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treatment measure: sharp jumps in HIT rates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C42086-9FA1-3E24-0EE1-AC4F1ADE2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838200"/>
                <a:ext cx="8839200" cy="57912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Define treatment/control group à la the strategy in East et al. (AER 2023) 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Identify the sharpest jump in year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(roughly = if 0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+, 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100+%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C42086-9FA1-3E24-0EE1-AC4F1ADE2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38200"/>
                <a:ext cx="8839200" cy="5791200"/>
              </a:xfrm>
              <a:blipFill>
                <a:blip r:embed="rId4"/>
                <a:stretch>
                  <a:fillRect t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773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2F63-33DF-84AA-6D7E-9A106A5E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533400"/>
          </a:xfrm>
        </p:spPr>
        <p:txBody>
          <a:bodyPr/>
          <a:lstStyle/>
          <a:p>
            <a:r>
              <a:rPr lang="en-US" dirty="0"/>
              <a:t>Geographic variation in HIT and physician supply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446C9-2711-BD77-AE05-5EE892F6A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99288"/>
            <a:ext cx="8305800" cy="5791200"/>
          </a:xfrm>
        </p:spPr>
        <p:txBody>
          <a:bodyPr/>
          <a:lstStyle/>
          <a:p>
            <a:r>
              <a:rPr lang="en-US" dirty="0"/>
              <a:t>Outcome periods 2006-2018 with one-year lagged HIT 2005-2017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88998-2E66-FC26-93AE-FDB5A099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1192618"/>
            <a:ext cx="9601200" cy="5756817"/>
          </a:xfrm>
          <a:prstGeom prst="rect">
            <a:avLst/>
          </a:prstGeom>
        </p:spPr>
      </p:pic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F32C2C2B-A247-E7C0-36EF-42006F5BC7C5}"/>
              </a:ext>
            </a:extLst>
          </p:cNvPr>
          <p:cNvSpPr/>
          <p:nvPr/>
        </p:nvSpPr>
        <p:spPr>
          <a:xfrm>
            <a:off x="8433878" y="6018183"/>
            <a:ext cx="685800" cy="820365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50" dirty="0">
                <a:latin typeface="Arial" panose="020B0604020202020204" pitchFamily="34" charset="0"/>
                <a:cs typeface="Arial" panose="020B0604020202020204" pitchFamily="34" charset="0"/>
              </a:rPr>
              <a:t>pre-T sum stats</a:t>
            </a:r>
          </a:p>
        </p:txBody>
      </p:sp>
    </p:spTree>
    <p:extLst>
      <p:ext uri="{BB962C8B-B14F-4D97-AF65-F5344CB8AC3E}">
        <p14:creationId xmlns:p14="http://schemas.microsoft.com/office/powerpoint/2010/main" val="397034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A206-167F-803C-5F67-351BB2A8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strategy: dynamic </a:t>
            </a:r>
            <a:r>
              <a:rPr lang="en-US" dirty="0" err="1"/>
              <a:t>DiD</a:t>
            </a:r>
            <a:r>
              <a:rPr lang="en-US" dirty="0"/>
              <a:t> &amp; event studies</a:t>
            </a:r>
            <a:endParaRPr lang="en-US" sz="2500" dirty="0">
              <a:solidFill>
                <a:schemeClr val="bg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D2508-C3B8-43F8-966B-BAAFDF109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640" y="865292"/>
                <a:ext cx="8763000" cy="600891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dirty="0"/>
                  <a:t>Staggered </a:t>
                </a:r>
                <a:r>
                  <a:rPr lang="en-GB" dirty="0" err="1"/>
                  <a:t>DiD</a:t>
                </a:r>
                <a:r>
                  <a:rPr lang="en-GB" dirty="0"/>
                  <a:t> </a:t>
                </a:r>
                <a:r>
                  <a:rPr lang="en-GB" sz="2000" dirty="0"/>
                  <a:t>design exploits the variation in the timing of the sharp increase in county HIT adoption</a:t>
                </a:r>
                <a:r>
                  <a:rPr lang="en-GB" sz="1600" dirty="0"/>
                  <a:t> 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(De </a:t>
                </a:r>
                <a:r>
                  <a:rPr lang="en-GB" sz="1700" dirty="0" err="1">
                    <a:solidFill>
                      <a:schemeClr val="bg1">
                        <a:lumMod val="50000"/>
                      </a:schemeClr>
                    </a:solidFill>
                  </a:rPr>
                  <a:t>Chaisemartin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 &amp; </a:t>
                </a:r>
                <a:r>
                  <a:rPr lang="en-GB" sz="1700" dirty="0" err="1">
                    <a:solidFill>
                      <a:schemeClr val="bg1">
                        <a:lumMod val="50000"/>
                      </a:schemeClr>
                    </a:solidFill>
                  </a:rPr>
                  <a:t>d’Haultfoeuille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, 2024)</a:t>
                </a:r>
              </a:p>
              <a:p>
                <a:pPr marL="0" indent="0">
                  <a:buNone/>
                </a:pPr>
                <a:endParaRPr lang="en-US" sz="100" dirty="0"/>
              </a:p>
              <a:p>
                <a:pPr marL="0" indent="0" algn="ctr">
                  <a:spcBef>
                    <a:spcPts val="4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𝑇𝑟𝑒𝑎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physician density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matched with one-year lagged HIT treatment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-1)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: 2005 county demographics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(share aged 65+, poverty rate, income per capita, Medicare Advantage penetration, share eligible for Medicaid, and college attainment rate)</a:t>
                </a:r>
                <a:r>
                  <a:rPr lang="en-US" dirty="0"/>
                  <a:t>, each x a linear time trend to capture time variation while mitigating endogeneity from treatment, à la Dranove et al (2014)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state-specific time trends,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denotes the state of county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county and year fixed effects;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clustered at the state level </a:t>
                </a:r>
              </a:p>
              <a:p>
                <a:pPr lvl="1"/>
                <a:r>
                  <a:rPr lang="en-US" dirty="0"/>
                  <a:t>Regressions are weighted by county-year level population </a:t>
                </a:r>
                <a:endParaRPr lang="en-US" dirty="0">
                  <a:solidFill>
                    <a:schemeClr val="bg2"/>
                  </a:solidFill>
                </a:endParaRPr>
              </a:p>
              <a:p>
                <a:pPr marL="457200" lvl="1" indent="0">
                  <a:buNone/>
                </a:pPr>
                <a:endParaRPr lang="en-US" sz="1200" dirty="0">
                  <a:solidFill>
                    <a:schemeClr val="bg2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Event study specification: 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=−4,   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≠0</m:t>
                          </m:r>
                        </m:sub>
                        <m:sup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9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9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sz="19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9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sup>
                          </m:sSubSup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×1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𝐸𝑣𝑒𝑟𝑇𝑟𝑒𝑎𝑡𝑒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90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sz="1900" dirty="0"/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Reference period t=0, treatment occurred in year 1 </a:t>
                </a:r>
                <a:r>
                  <a:rPr lang="en-US" dirty="0">
                    <a:solidFill>
                      <a:schemeClr val="bg2"/>
                    </a:solidFill>
                  </a:rPr>
                  <a:t>(as in </a:t>
                </a:r>
                <a:r>
                  <a:rPr lang="en-US" dirty="0" err="1">
                    <a:solidFill>
                      <a:schemeClr val="bg2"/>
                    </a:solidFill>
                  </a:rPr>
                  <a:t>dCDH</a:t>
                </a:r>
                <a:r>
                  <a:rPr lang="en-US" dirty="0">
                    <a:solidFill>
                      <a:schemeClr val="bg2"/>
                    </a:solidFill>
                  </a:rPr>
                  <a:t> 2024 setup)</a:t>
                </a:r>
                <a:endParaRPr 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D2508-C3B8-43F8-966B-BAAFDF109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640" y="865292"/>
                <a:ext cx="8763000" cy="6008916"/>
              </a:xfrm>
              <a:blipFill>
                <a:blip r:embed="rId2"/>
                <a:stretch>
                  <a:fillRect t="-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43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5792A9-D27A-BA0B-E008-707878F543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289" y="1434827"/>
            <a:ext cx="9144000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18D924-7D7B-6ECF-9831-08B62A75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diffusion &amp; HB physician: main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E0341-22AA-845E-7E30-2DC5EB359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903048"/>
            <a:ext cx="8915401" cy="5638800"/>
          </a:xfrm>
        </p:spPr>
        <p:txBody>
          <a:bodyPr/>
          <a:lstStyle/>
          <a:p>
            <a:pPr marL="0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Main outcome: HB physicians per 100k pop. </a:t>
            </a:r>
            <a:r>
              <a:rPr lang="en-US" i="1" dirty="0"/>
              <a:t>vs.</a:t>
            </a:r>
            <a:r>
              <a:rPr lang="en-US" dirty="0"/>
              <a:t> three falsification groups</a:t>
            </a:r>
          </a:p>
          <a:p>
            <a:pPr marL="0">
              <a:spcBef>
                <a:spcPts val="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07510-3354-6E3B-E8B5-83ADFC0403B0}"/>
              </a:ext>
            </a:extLst>
          </p:cNvPr>
          <p:cNvSpPr txBox="1"/>
          <p:nvPr/>
        </p:nvSpPr>
        <p:spPr>
          <a:xfrm>
            <a:off x="2324100" y="1924050"/>
            <a:ext cx="6143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employed by the federal gov (e.g., Army, Navy, Air Force, VA, PH)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A8FBA-5C84-8C99-795E-37BFA70BDDFB}"/>
              </a:ext>
            </a:extLst>
          </p:cNvPr>
          <p:cNvSpPr txBox="1"/>
          <p:nvPr/>
        </p:nvSpPr>
        <p:spPr>
          <a:xfrm>
            <a:off x="3139270" y="2248944"/>
            <a:ext cx="6043642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hose not provide patient care but work in research/teaching/admin.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8C488-6A8B-E5BF-20DD-0FDD9E36F38B}"/>
              </a:ext>
            </a:extLst>
          </p:cNvPr>
          <p:cNvSpPr txBox="1"/>
          <p:nvPr/>
        </p:nvSpPr>
        <p:spPr>
          <a:xfrm>
            <a:off x="1609725" y="2751051"/>
            <a:ext cx="5943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dermatology, aerospace med., forensic pathology, med genetics, occupational meds, nuclear meds, PH &amp; general preventive med. 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28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EB5CE32-D019-2038-8818-D80403F25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26012" y="1101012"/>
            <a:ext cx="9518652" cy="571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5D6746-4B50-FC99-31C2-00816713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3350"/>
            <a:ext cx="8991600" cy="533400"/>
          </a:xfrm>
        </p:spPr>
        <p:txBody>
          <a:bodyPr/>
          <a:lstStyle/>
          <a:p>
            <a:r>
              <a:rPr lang="en-US" dirty="0"/>
              <a:t>Heterogeneity cross-specialty within HB physicians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47873-2E5C-A7AD-F697-8A897D679B4E}"/>
              </a:ext>
            </a:extLst>
          </p:cNvPr>
          <p:cNvSpPr txBox="1"/>
          <p:nvPr/>
        </p:nvSpPr>
        <p:spPr>
          <a:xfrm>
            <a:off x="785886" y="822396"/>
            <a:ext cx="8486627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allergy and immunology, cardiovascular disease, gastroenterology, internal medicine (general, subspecialties), pediatrics (general, subspecialties, cardiology), pulmonary disease.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09EC5-2C64-D108-0A96-78B4D08F7EAD}"/>
              </a:ext>
            </a:extLst>
          </p:cNvPr>
          <p:cNvSpPr txBox="1"/>
          <p:nvPr/>
        </p:nvSpPr>
        <p:spPr>
          <a:xfrm>
            <a:off x="2990850" y="1464256"/>
            <a:ext cx="615315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Surgical</a:t>
            </a: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colon/rectal surgery, general surgery, neurological surgery, obstetrics-gynecology (general, subsp.), ophthalmology, orthopedic surgery, otolaryngology, plastic surgery, thoracic surgery, urology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E01E1-7DCC-AEE4-7860-940A6BB9E98C}"/>
              </a:ext>
            </a:extLst>
          </p:cNvPr>
          <p:cNvSpPr txBox="1"/>
          <p:nvPr/>
        </p:nvSpPr>
        <p:spPr>
          <a:xfrm>
            <a:off x="785886" y="5363635"/>
            <a:ext cx="813435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Others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anesthesiology, radiology, diagnostic</a:t>
            </a:r>
            <a:r>
              <a:rPr lang="en-US" sz="1550" b="0" i="0" u="none" strike="noStrike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radiology, emergency med., general preventive med., neurology, pathology (anatomic/clinical), physical medicine/rehabilitation, radiation oncology, transplant surgery, vascular med., other specialties, unspecified. 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3E1A3-8DA0-B7E3-7DC1-65DE5F34A234}"/>
              </a:ext>
            </a:extLst>
          </p:cNvPr>
          <p:cNvSpPr txBox="1"/>
          <p:nvPr/>
        </p:nvSpPr>
        <p:spPr>
          <a:xfrm>
            <a:off x="4315322" y="2400735"/>
            <a:ext cx="32004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GP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general</a:t>
            </a:r>
            <a:r>
              <a:rPr lang="en-US" sz="1550" b="0" i="0" u="none" strike="noStrike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practice, family medicine (general subspecialties)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50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ACE3-2A21-ACAB-0110-9C6A6EC3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8" y="152400"/>
            <a:ext cx="9176432" cy="533400"/>
          </a:xfrm>
        </p:spPr>
        <p:txBody>
          <a:bodyPr/>
          <a:lstStyle/>
          <a:p>
            <a:r>
              <a:rPr lang="en-US" dirty="0"/>
              <a:t>Expanded firm boundary or higher total doc density?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EF534B-279B-3873-ABA2-6B0514579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94267" y="914400"/>
            <a:ext cx="9529605" cy="571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39ED9D1E-D406-F274-7149-59555A810284}"/>
              </a:ext>
            </a:extLst>
          </p:cNvPr>
          <p:cNvSpPr/>
          <p:nvPr/>
        </p:nvSpPr>
        <p:spPr>
          <a:xfrm>
            <a:off x="6858000" y="6540224"/>
            <a:ext cx="1937427" cy="263348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HRR level analysis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47CDC2E4-3F8E-A3CF-CF30-6F4F56268978}"/>
              </a:ext>
            </a:extLst>
          </p:cNvPr>
          <p:cNvSpPr/>
          <p:nvPr/>
        </p:nvSpPr>
        <p:spPr>
          <a:xfrm>
            <a:off x="5029200" y="6536976"/>
            <a:ext cx="1399157" cy="263348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matched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850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B891C0-D18E-B8AD-19AD-B7E1DD9769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14015"/>
            <a:ext cx="7924800" cy="4754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D7243C-08CB-153F-2481-701CC8C9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Diffusion or Physician Practice Consolidation?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6C454-DD3E-B4E5-77D9-2FDAC9010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90575"/>
            <a:ext cx="9067800" cy="5791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Health systems acquire physician practices to get more patients</a:t>
            </a:r>
            <a:r>
              <a:rPr lang="en-US" sz="1800" dirty="0">
                <a:solidFill>
                  <a:schemeClr val="bg2"/>
                </a:solidFill>
              </a:rPr>
              <a:t> (Baker et al., 2016)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Systems, w greater financial &amp; tech capacities, often adopt HIT early</a:t>
            </a:r>
            <a:r>
              <a:rPr lang="en-US" sz="1800" dirty="0">
                <a:solidFill>
                  <a:schemeClr val="bg2"/>
                </a:solidFill>
              </a:rPr>
              <a:t> (Agha 2014)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We identify health system that experienced a </a:t>
            </a:r>
            <a:r>
              <a:rPr lang="en-US" sz="1800" dirty="0">
                <a:solidFill>
                  <a:srgbClr val="0070C0"/>
                </a:solidFill>
              </a:rPr>
              <a:t>merger &amp; acquisition (M&amp;A)</a:t>
            </a:r>
            <a:r>
              <a:rPr lang="en-US" sz="1800" dirty="0"/>
              <a:t>, if the </a:t>
            </a:r>
            <a:r>
              <a:rPr lang="en-US" sz="1800" dirty="0">
                <a:solidFill>
                  <a:srgbClr val="0070C0"/>
                </a:solidFill>
              </a:rPr>
              <a:t># hospitals within the system increased </a:t>
            </a:r>
            <a:r>
              <a:rPr lang="en-US" sz="1800" dirty="0"/>
              <a:t>in a given year compared to the previous year.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a </a:t>
            </a:r>
            <a:r>
              <a:rPr lang="en-US" sz="1800" dirty="0">
                <a:solidFill>
                  <a:srgbClr val="0070C0"/>
                </a:solidFill>
              </a:rPr>
              <a:t>vertical integration (VI)</a:t>
            </a:r>
            <a:r>
              <a:rPr lang="en-US" sz="1800" dirty="0"/>
              <a:t>, if the </a:t>
            </a:r>
            <a:r>
              <a:rPr lang="en-US" sz="1800" dirty="0">
                <a:solidFill>
                  <a:srgbClr val="0070C0"/>
                </a:solidFill>
              </a:rPr>
              <a:t># ambulatory care units </a:t>
            </a:r>
            <a:r>
              <a:rPr lang="en-US" sz="1800" dirty="0"/>
              <a:t>in the system increased…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2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907B-B911-0CFA-90BD-0E7FAEBCE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76" y="123216"/>
            <a:ext cx="8964040" cy="533400"/>
          </a:xfrm>
        </p:spPr>
        <p:txBody>
          <a:bodyPr/>
          <a:lstStyle/>
          <a:p>
            <a:r>
              <a:rPr lang="en-US" dirty="0"/>
              <a:t>Heterogeneity by Physician Age &amp; Shortage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25DBB-87FB-F5D0-EA4B-40878F90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22" y="789560"/>
            <a:ext cx="8814878" cy="5791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Early-career (under 45), mid-career (45-64), late-career (65+), total docs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by Health Professional Shortage Area (HPSA) designation status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 county is ever-HPSA if at least part of the county was ever designated as having a shortage of primary care practitioners.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90F7B-5546-9AE1-CE3F-B4C1AD7C1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368" y="2084806"/>
            <a:ext cx="9445008" cy="472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8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EBE6-D725-5D0B-7573-313FA6D4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9228304" cy="533400"/>
          </a:xfrm>
        </p:spPr>
        <p:txBody>
          <a:bodyPr/>
          <a:lstStyle/>
          <a:p>
            <a:r>
              <a:rPr lang="en-US" dirty="0"/>
              <a:t>Heterogeneity by Rural/Urban (by pop density, MSA)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AF500C-CE17-5696-D396-14105D47C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0" y="1752600"/>
            <a:ext cx="9140070" cy="399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099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3D2C-DB6F-8275-16AC-CCC72E2C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dirty="0"/>
              <a:t>Potential Mechanism: the Financial Impact of HIT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06619-CA7A-45D7-EA17-39A24EE76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728" y="771931"/>
            <a:ext cx="9220199" cy="5562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dirty="0"/>
              <a:t>Is it worth it financially? We use proxies for physician/hospital’s performance: 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dirty="0"/>
              <a:t>[per physician] avg </a:t>
            </a:r>
            <a:r>
              <a:rPr lang="en-US" sz="1800" dirty="0">
                <a:solidFill>
                  <a:srgbClr val="0070C0"/>
                </a:solidFill>
              </a:rPr>
              <a:t>Medicare-allowed amounts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(incl. Medicare payments, patient deductibles and coinsurance, and 3rd-party contributions)</a:t>
            </a:r>
            <a:r>
              <a:rPr lang="en-US" sz="1800" dirty="0"/>
              <a:t>, avg </a:t>
            </a:r>
            <a:r>
              <a:rPr lang="en-US" sz="1800" dirty="0">
                <a:solidFill>
                  <a:srgbClr val="0070C0"/>
                </a:solidFill>
              </a:rPr>
              <a:t># of Medicare services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dirty="0"/>
              <a:t>[hospital] </a:t>
            </a:r>
            <a:r>
              <a:rPr lang="en-US" sz="1800" dirty="0">
                <a:solidFill>
                  <a:srgbClr val="0070C0"/>
                </a:solidFill>
              </a:rPr>
              <a:t>average hospital profit, revenue, </a:t>
            </a:r>
            <a:r>
              <a:rPr lang="en-US" sz="1800" dirty="0"/>
              <a:t>and </a:t>
            </a:r>
            <a:r>
              <a:rPr lang="en-US" sz="1800" dirty="0">
                <a:solidFill>
                  <a:srgbClr val="0070C0"/>
                </a:solidFill>
              </a:rPr>
              <a:t>cost </a:t>
            </a:r>
            <a:r>
              <a:rPr lang="en-US" sz="1800" dirty="0"/>
              <a:t>within each county</a:t>
            </a:r>
          </a:p>
          <a:p>
            <a:pPr marL="457200" lvl="1" indent="0">
              <a:spcBef>
                <a:spcPts val="0"/>
              </a:spcBef>
              <a:spcAft>
                <a:spcPts val="500"/>
              </a:spcAft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3CD2D-B30A-C8D5-78E1-CC662E55DD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2182870"/>
            <a:ext cx="9220199" cy="461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7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C89C-62B0-14F5-81FD-39D7029A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and Physician Extenders: rates and ratios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F6D6FD-7F1C-4D1D-417B-832DDC8E1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56746" y="2323295"/>
            <a:ext cx="9200746" cy="345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59631-F30E-B84A-FD2D-158AC2E3F015}"/>
              </a:ext>
            </a:extLst>
          </p:cNvPr>
          <p:cNvSpPr txBox="1">
            <a:spLocks/>
          </p:cNvSpPr>
          <p:nvPr/>
        </p:nvSpPr>
        <p:spPr bwMode="auto">
          <a:xfrm>
            <a:off x="-9728" y="908119"/>
            <a:ext cx="9220199" cy="280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ts val="120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-128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+mn-cs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3pPr>
            <a:lvl4pPr marL="15986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4pPr>
            <a:lvl5pPr marL="20542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5pPr>
            <a:lvl6pPr marL="2512248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9022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793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564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endParaRPr lang="en-US" sz="1800" kern="0" dirty="0"/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kern="0" dirty="0"/>
              <a:t>PA-to-physician ratio remains similar; nurse-to-physician ratio declined, consistent w HIT automated routine charting tasks, freeing nurses to offer more direct patient care</a:t>
            </a:r>
          </a:p>
          <a:p>
            <a:pPr marL="457200" lvl="1" indent="0">
              <a:spcBef>
                <a:spcPts val="0"/>
              </a:spcBef>
              <a:spcAft>
                <a:spcPts val="500"/>
              </a:spcAft>
              <a:buFontTx/>
              <a:buNone/>
            </a:pPr>
            <a:endParaRPr lang="en-US" kern="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2691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EDD7-CCF5-0327-B6EC-F99A7924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Heterogeneity by utilization: doc supply &amp; care vol.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109D-A1FA-1D34-41F2-81D3CB3B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4" y="1230086"/>
            <a:ext cx="8991600" cy="5257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Knowing that $ goes up. Given the interplay between </a:t>
            </a:r>
            <a:r>
              <a:rPr lang="en-US" dirty="0">
                <a:solidFill>
                  <a:srgbClr val="0070C0"/>
                </a:solidFill>
              </a:rPr>
              <a:t>provider capacity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service demand</a:t>
            </a:r>
            <a:r>
              <a:rPr lang="en-US" dirty="0"/>
              <a:t>, how about </a:t>
            </a:r>
            <a:r>
              <a:rPr lang="en-US" dirty="0">
                <a:solidFill>
                  <a:srgbClr val="0070C0"/>
                </a:solidFill>
              </a:rPr>
              <a:t>patient care utilization </a:t>
            </a:r>
            <a:r>
              <a:rPr lang="en-US" dirty="0"/>
              <a:t>post treatment?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2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Specifically, whether </a:t>
            </a:r>
            <a:r>
              <a:rPr lang="en-US" b="1" dirty="0">
                <a:solidFill>
                  <a:srgbClr val="0070C0"/>
                </a:solidFill>
              </a:rPr>
              <a:t>care utilization </a:t>
            </a:r>
            <a:r>
              <a:rPr lang="en-US" dirty="0"/>
              <a:t>responses to HIT diffusion vary by </a:t>
            </a:r>
            <a:r>
              <a:rPr lang="en-US" dirty="0">
                <a:solidFill>
                  <a:srgbClr val="0070C0"/>
                </a:solidFill>
              </a:rPr>
              <a:t>pre-period local care utilization levels</a:t>
            </a:r>
            <a:r>
              <a:rPr lang="en-US" dirty="0"/>
              <a:t>?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2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Tested across all utilization measures available, note that: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1900" dirty="0">
                <a:solidFill>
                  <a:srgbClr val="0070C0"/>
                </a:solidFill>
              </a:rPr>
              <a:t>Outpatient elective surgeries </a:t>
            </a:r>
            <a:r>
              <a:rPr lang="en-US" sz="1900" dirty="0"/>
              <a:t>has the </a:t>
            </a:r>
            <a:r>
              <a:rPr lang="en-US" sz="1900" dirty="0">
                <a:solidFill>
                  <a:srgbClr val="0070C0"/>
                </a:solidFill>
              </a:rPr>
              <a:t>highest profit margins</a:t>
            </a:r>
            <a:r>
              <a:rPr lang="en-US" sz="1900" dirty="0"/>
              <a:t>, thus are where we expect highest increases in docs/vols (extensive, intensive margin)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1900" dirty="0"/>
              <a:t>Inpatient surgery volume may not respond, but more HB docs are still good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1900" dirty="0"/>
              <a:t>Others: ED visits, outpatient visits and Medicare inpatient discharges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1900" dirty="0"/>
              <a:t>Pre-period utilization matters: competition, disease mix, growth potential</a:t>
            </a:r>
          </a:p>
          <a:p>
            <a:pPr marL="457200" lvl="1" indent="0">
              <a:spcBef>
                <a:spcPts val="0"/>
              </a:spcBef>
              <a:spcAft>
                <a:spcPts val="1000"/>
              </a:spcAft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93478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EDD7-CCF5-0327-B6EC-F99A7924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6" y="152400"/>
            <a:ext cx="9119683" cy="533400"/>
          </a:xfrm>
        </p:spPr>
        <p:txBody>
          <a:bodyPr/>
          <a:lstStyle/>
          <a:p>
            <a:r>
              <a:rPr lang="en-US" dirty="0"/>
              <a:t>Heterogeneity by utilization </a:t>
            </a:r>
            <a:r>
              <a:rPr lang="en-US" sz="2600" dirty="0"/>
              <a:t>(pre-T p.c. Medicare tertile)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9E6C8-AE2C-E80B-DE25-0CA3ED663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1339178"/>
            <a:ext cx="92964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1CB3C7-3F82-35B9-75A9-CDDD1FF39D48}"/>
              </a:ext>
            </a:extLst>
          </p:cNvPr>
          <p:cNvSpPr txBox="1"/>
          <p:nvPr/>
        </p:nvSpPr>
        <p:spPr>
          <a:xfrm>
            <a:off x="762000" y="6172200"/>
            <a:ext cx="8065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tertiles based on pre-treatment care utilization, measured by standardized, risk-adjusted per capita Medicare costs in 2006</a:t>
            </a:r>
          </a:p>
        </p:txBody>
      </p:sp>
    </p:spTree>
    <p:extLst>
      <p:ext uri="{BB962C8B-B14F-4D97-AF65-F5344CB8AC3E}">
        <p14:creationId xmlns:p14="http://schemas.microsoft.com/office/powerpoint/2010/main" val="338555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5713-D6F6-9E74-7F7A-D802B05A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checks</a:t>
            </a:r>
            <a:endParaRPr lang="en-U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27F4B-7D99-BB79-18A5-DAC5F26D8C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827" y="767444"/>
                <a:ext cx="8886216" cy="606198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Alternative </a:t>
                </a:r>
                <a:r>
                  <a:rPr lang="en-US" dirty="0">
                    <a:solidFill>
                      <a:srgbClr val="0070C0"/>
                    </a:solidFill>
                  </a:rPr>
                  <a:t>subsamples</a:t>
                </a:r>
                <a:r>
                  <a:rPr lang="en-US" dirty="0"/>
                  <a:t>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Counties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US" dirty="0"/>
                  <a:t> distinct adoption rates; those never had zero HB physicians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Counties not with extreme population sizes (exclude top/bottom 10%)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Balanced panel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periods before and after treatment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Leave-one-out analysis: not driven by uncertain outlier specialties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Matched </a:t>
                </a:r>
                <a:r>
                  <a:rPr lang="en-US" dirty="0" err="1"/>
                  <a:t>DiD</a:t>
                </a:r>
                <a:r>
                  <a:rPr lang="en-US" dirty="0"/>
                  <a:t> (top 10 counties, outside own census region)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800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Alternative model </a:t>
                </a:r>
                <a:r>
                  <a:rPr lang="en-US" dirty="0">
                    <a:solidFill>
                      <a:srgbClr val="0070C0"/>
                    </a:solidFill>
                  </a:rPr>
                  <a:t>specifications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Models without state-specific time trends; without county level controls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Models without either state-specific time trends or county level controls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800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Alternative staggered </a:t>
                </a:r>
                <a:r>
                  <a:rPr lang="en-US" dirty="0" err="1"/>
                  <a:t>DiD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estimators </a:t>
                </a:r>
                <a:r>
                  <a:rPr lang="en-US" dirty="0"/>
                  <a:t>or</a:t>
                </a:r>
                <a:r>
                  <a:rPr lang="en-US" dirty="0">
                    <a:solidFill>
                      <a:srgbClr val="0070C0"/>
                    </a:solidFill>
                  </a:rPr>
                  <a:t> specifications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 err="1"/>
                  <a:t>Borusyal</a:t>
                </a:r>
                <a:r>
                  <a:rPr lang="en-US" dirty="0"/>
                  <a:t> et al., 2024; Callaway &amp; Sant’Anna, 2021; Sun &amp; Abraham, 2021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Continuous </a:t>
                </a:r>
                <a:r>
                  <a:rPr lang="en-US" dirty="0" err="1"/>
                  <a:t>DiD</a:t>
                </a:r>
                <a:r>
                  <a:rPr lang="en-US" dirty="0"/>
                  <a:t>; count data as DV (# rather than rates)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endParaRPr lang="en-US" sz="800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Alternative HIT </a:t>
                </a:r>
                <a:r>
                  <a:rPr lang="en-US" dirty="0">
                    <a:solidFill>
                      <a:srgbClr val="0070C0"/>
                    </a:solidFill>
                  </a:rPr>
                  <a:t>measures</a:t>
                </a:r>
                <a:r>
                  <a:rPr lang="en-US" dirty="0"/>
                  <a:t>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CPOE or physician documentation (PD), another advanced HIT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CPOE or PD or CDR (clinical data repository), not much effect with basic HIT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27F4B-7D99-BB79-18A5-DAC5F26D8C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827" y="767444"/>
                <a:ext cx="8886216" cy="6061981"/>
              </a:xfrm>
              <a:blipFill>
                <a:blip r:embed="rId2"/>
                <a:stretch>
                  <a:fillRect t="-503" r="-274" b="-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390451AC-B169-C303-AE57-F66CC7F91B05}"/>
              </a:ext>
            </a:extLst>
          </p:cNvPr>
          <p:cNvSpPr/>
          <p:nvPr/>
        </p:nvSpPr>
        <p:spPr>
          <a:xfrm>
            <a:off x="7975747" y="854412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subsample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7DA0E256-CD19-9575-D5D1-7005B9CB974B}"/>
              </a:ext>
            </a:extLst>
          </p:cNvPr>
          <p:cNvSpPr/>
          <p:nvPr/>
        </p:nvSpPr>
        <p:spPr>
          <a:xfrm>
            <a:off x="7786987" y="3165547"/>
            <a:ext cx="141732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specifications</a:t>
            </a:r>
          </a:p>
        </p:txBody>
      </p:sp>
      <p:sp>
        <p:nvSpPr>
          <p:cNvPr id="6" name="Rectangle 5">
            <a:hlinkClick r:id="rId5" action="ppaction://hlinksldjump"/>
            <a:extLst>
              <a:ext uri="{FF2B5EF4-FFF2-40B4-BE49-F238E27FC236}">
                <a16:creationId xmlns:a16="http://schemas.microsoft.com/office/drawing/2014/main" id="{03338A4C-F39A-CCE8-39B7-A746B8DE554C}"/>
              </a:ext>
            </a:extLst>
          </p:cNvPr>
          <p:cNvSpPr/>
          <p:nvPr/>
        </p:nvSpPr>
        <p:spPr>
          <a:xfrm>
            <a:off x="7975747" y="4404313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estimators</a:t>
            </a:r>
          </a:p>
        </p:txBody>
      </p:sp>
      <p:sp>
        <p:nvSpPr>
          <p:cNvPr id="7" name="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9A5DE330-7B67-D1B1-8307-FA784E8B2E94}"/>
              </a:ext>
            </a:extLst>
          </p:cNvPr>
          <p:cNvSpPr/>
          <p:nvPr/>
        </p:nvSpPr>
        <p:spPr>
          <a:xfrm>
            <a:off x="7975747" y="5834396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measures</a:t>
            </a:r>
          </a:p>
        </p:txBody>
      </p:sp>
      <p:sp>
        <p:nvSpPr>
          <p:cNvPr id="9" name="Rectangle 8">
            <a:hlinkClick r:id="rId7" action="ppaction://hlinksldjump"/>
            <a:extLst>
              <a:ext uri="{FF2B5EF4-FFF2-40B4-BE49-F238E27FC236}">
                <a16:creationId xmlns:a16="http://schemas.microsoft.com/office/drawing/2014/main" id="{EE2F2CDA-59CA-06EC-1CF7-990006EFF32F}"/>
              </a:ext>
            </a:extLst>
          </p:cNvPr>
          <p:cNvSpPr/>
          <p:nvPr/>
        </p:nvSpPr>
        <p:spPr>
          <a:xfrm>
            <a:off x="6898537" y="5188094"/>
            <a:ext cx="1005186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cont. DD</a:t>
            </a:r>
          </a:p>
        </p:txBody>
      </p:sp>
      <p:sp>
        <p:nvSpPr>
          <p:cNvPr id="8" name="Rectangle 7">
            <a:hlinkClick r:id="rId8" action="ppaction://hlinksldjump"/>
            <a:extLst>
              <a:ext uri="{FF2B5EF4-FFF2-40B4-BE49-F238E27FC236}">
                <a16:creationId xmlns:a16="http://schemas.microsoft.com/office/drawing/2014/main" id="{9BCEF05B-6A87-B97A-BA31-FE5DFAECAD19}"/>
              </a:ext>
            </a:extLst>
          </p:cNvPr>
          <p:cNvSpPr/>
          <p:nvPr/>
        </p:nvSpPr>
        <p:spPr>
          <a:xfrm>
            <a:off x="8035044" y="5183079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count DV</a:t>
            </a:r>
          </a:p>
        </p:txBody>
      </p:sp>
      <p:sp>
        <p:nvSpPr>
          <p:cNvPr id="10" name="Rectangle 9">
            <a:hlinkClick r:id="rId9" action="ppaction://hlinksldjump"/>
            <a:extLst>
              <a:ext uri="{FF2B5EF4-FFF2-40B4-BE49-F238E27FC236}">
                <a16:creationId xmlns:a16="http://schemas.microsoft.com/office/drawing/2014/main" id="{D61A9B18-3F7A-998E-233E-DB72D78005C0}"/>
              </a:ext>
            </a:extLst>
          </p:cNvPr>
          <p:cNvSpPr/>
          <p:nvPr/>
        </p:nvSpPr>
        <p:spPr>
          <a:xfrm>
            <a:off x="8011416" y="2216286"/>
            <a:ext cx="1170432" cy="3210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drop-1-out</a:t>
            </a:r>
          </a:p>
        </p:txBody>
      </p:sp>
      <p:sp>
        <p:nvSpPr>
          <p:cNvPr id="11" name="Rectangle 10">
            <a:hlinkClick r:id="rId10" action="ppaction://hlinksldjump"/>
            <a:extLst>
              <a:ext uri="{FF2B5EF4-FFF2-40B4-BE49-F238E27FC236}">
                <a16:creationId xmlns:a16="http://schemas.microsoft.com/office/drawing/2014/main" id="{56273058-A29B-1587-328D-4A362F41D19D}"/>
              </a:ext>
            </a:extLst>
          </p:cNvPr>
          <p:cNvSpPr/>
          <p:nvPr/>
        </p:nvSpPr>
        <p:spPr>
          <a:xfrm>
            <a:off x="8008176" y="2592423"/>
            <a:ext cx="1170432" cy="3210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match-DD</a:t>
            </a:r>
          </a:p>
        </p:txBody>
      </p:sp>
    </p:spTree>
    <p:extLst>
      <p:ext uri="{BB962C8B-B14F-4D97-AF65-F5344CB8AC3E}">
        <p14:creationId xmlns:p14="http://schemas.microsoft.com/office/powerpoint/2010/main" val="1725629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647E-1A25-38CB-1511-29F11EA4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2EB2F-519A-1C89-9DAF-E07507E42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4" y="1295400"/>
            <a:ext cx="8763000" cy="534488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Analyses based on </a:t>
            </a:r>
            <a:r>
              <a:rPr lang="en-US" i="1" dirty="0"/>
              <a:t>aggregate</a:t>
            </a:r>
            <a:r>
              <a:rPr lang="en-US" dirty="0"/>
              <a:t> data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ym typeface="Wingdings" panose="05000000000000000000" pitchFamily="2" charset="2"/>
              </a:rPr>
              <a:t> mitigate concerns about patient sorting (limited sorting at county level)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ym typeface="Wingdings" panose="05000000000000000000" pitchFamily="2" charset="2"/>
              </a:rPr>
              <a:t> limit our ability to disentangle changes at the physician level (e.g., senior to junior doc replacements, PCP vs specialists, roles, interoperability, …)</a:t>
            </a:r>
            <a:endParaRPr lang="en-US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Focus on </a:t>
            </a:r>
            <a:r>
              <a:rPr lang="en-US" i="1" dirty="0"/>
              <a:t>digital</a:t>
            </a:r>
            <a:r>
              <a:rPr lang="en-US" dirty="0"/>
              <a:t> tech but not fully capture </a:t>
            </a:r>
            <a:r>
              <a:rPr lang="en-US" i="1" dirty="0"/>
              <a:t>physical</a:t>
            </a:r>
            <a:r>
              <a:rPr lang="en-US" dirty="0"/>
              <a:t> med tech (data limit)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comprehensive controls mitigate concerns that other tech drive the results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Not directly link with downstream </a:t>
            </a:r>
            <a:r>
              <a:rPr lang="en-US" i="1" dirty="0"/>
              <a:t>health outcomes</a:t>
            </a:r>
            <a:r>
              <a:rPr lang="en-US" dirty="0"/>
              <a:t>: HIT or docs?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is one element within broader, team-based care delivery process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We demonstrate there can be direct and indirect effects via physician supply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22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DEF1-6F75-7F6D-B672-77BC0E33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Discussion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8F71F-7662-FEEB-20F8-B15631C31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740" y="1038225"/>
                <a:ext cx="8948058" cy="581025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We find that </a:t>
                </a:r>
                <a:r>
                  <a:rPr lang="en-US" dirty="0">
                    <a:solidFill>
                      <a:srgbClr val="0070C0"/>
                    </a:solidFill>
                  </a:rPr>
                  <a:t>aggregate HB physician density (county-level) </a:t>
                </a:r>
                <a:r>
                  <a:rPr lang="en-US" b="1" dirty="0">
                    <a:solidFill>
                      <a:srgbClr val="0070C0"/>
                    </a:solidFill>
                  </a:rPr>
                  <a:t>increases</a:t>
                </a:r>
                <a:r>
                  <a:rPr lang="en-US" dirty="0"/>
                  <a:t> after </a:t>
                </a:r>
                <a:r>
                  <a:rPr lang="en-US" dirty="0">
                    <a:solidFill>
                      <a:srgbClr val="0070C0"/>
                    </a:solidFill>
                  </a:rPr>
                  <a:t>rapid adoption of advanced HIT</a:t>
                </a:r>
                <a:r>
                  <a:rPr lang="en-US" dirty="0"/>
                  <a:t>, with effects concentrated among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Medical &amp; surgical </a:t>
                </a:r>
                <a:r>
                  <a:rPr lang="en-US" dirty="0"/>
                  <a:t>specialties: tied with data &amp; scheduling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Early-career physicians</a:t>
                </a:r>
                <a:r>
                  <a:rPr lang="en-US" dirty="0"/>
                  <a:t>: 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≤45</m:t>
                    </m:r>
                  </m:oMath>
                </a14:m>
                <a:r>
                  <a:rPr lang="en-US" dirty="0"/>
                  <a:t>, more movable and tech savvy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Health professional shortage areas (HPSA)</a:t>
                </a:r>
                <a:r>
                  <a:rPr lang="en-US" dirty="0"/>
                  <a:t>: places w excess demand to care</a:t>
                </a:r>
                <a:endParaRPr lang="en-US" dirty="0">
                  <a:highlight>
                    <a:srgbClr val="FFFF00"/>
                  </a:highlight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US" sz="1200" dirty="0">
                  <a:highlight>
                    <a:srgbClr val="FFFF00"/>
                  </a:highlight>
                </a:endParaRP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Mechanism: treated counties showed better financial performance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Higher (per </a:t>
                </a:r>
                <a:r>
                  <a:rPr lang="en-US" dirty="0">
                    <a:solidFill>
                      <a:srgbClr val="0070C0"/>
                    </a:solidFill>
                  </a:rPr>
                  <a:t>physician</a:t>
                </a:r>
                <a:r>
                  <a:rPr lang="en-US" dirty="0"/>
                  <a:t>) avg </a:t>
                </a:r>
                <a:r>
                  <a:rPr lang="en-US" dirty="0">
                    <a:solidFill>
                      <a:srgbClr val="0070C0"/>
                    </a:solidFill>
                  </a:rPr>
                  <a:t>Medicare allowed payments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rgbClr val="0070C0"/>
                    </a:solidFill>
                  </a:rPr>
                  <a:t>services provided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Increased </a:t>
                </a:r>
                <a:r>
                  <a:rPr lang="en-US" dirty="0">
                    <a:solidFill>
                      <a:srgbClr val="0070C0"/>
                    </a:solidFill>
                  </a:rPr>
                  <a:t>hospital profits</a:t>
                </a:r>
                <a:r>
                  <a:rPr lang="en-US" dirty="0"/>
                  <a:t>, and greater outpatient surgical volumes 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endParaRPr lang="en-US" sz="1200" dirty="0"/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Policy and managerial implications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Strategic HIT investment can </a:t>
                </a:r>
                <a:r>
                  <a:rPr lang="en-US" dirty="0">
                    <a:solidFill>
                      <a:srgbClr val="0070C0"/>
                    </a:solidFill>
                  </a:rPr>
                  <a:t>attract (/retain) </a:t>
                </a:r>
                <a:r>
                  <a:rPr lang="en-US" dirty="0"/>
                  <a:t>physicians to underserved areas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HIT (automation) appears to </a:t>
                </a:r>
                <a:r>
                  <a:rPr lang="en-US" dirty="0">
                    <a:solidFill>
                      <a:srgbClr val="0070C0"/>
                    </a:solidFill>
                  </a:rPr>
                  <a:t>complement</a:t>
                </a:r>
                <a:r>
                  <a:rPr lang="en-US" dirty="0"/>
                  <a:t> physician labor rather than substitute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Health tech diffusion may help </a:t>
                </a:r>
                <a:r>
                  <a:rPr lang="en-US" dirty="0">
                    <a:solidFill>
                      <a:srgbClr val="0070C0"/>
                    </a:solidFill>
                  </a:rPr>
                  <a:t>reduce</a:t>
                </a:r>
                <a:r>
                  <a:rPr lang="en-US" dirty="0"/>
                  <a:t> geographic </a:t>
                </a:r>
                <a:r>
                  <a:rPr lang="en-US" dirty="0">
                    <a:solidFill>
                      <a:srgbClr val="0070C0"/>
                    </a:solidFill>
                  </a:rPr>
                  <a:t>disparity</a:t>
                </a:r>
                <a:r>
                  <a:rPr lang="en-US" dirty="0"/>
                  <a:t> in care access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8F71F-7662-FEEB-20F8-B15631C31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740" y="1038225"/>
                <a:ext cx="8948058" cy="5810250"/>
              </a:xfrm>
              <a:blipFill>
                <a:blip r:embed="rId2"/>
                <a:stretch>
                  <a:fillRect t="-420" r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93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8746-E17F-EACE-E9CC-84DF086B4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IT Diffusion and Physician Labor Density</a:t>
            </a:r>
          </a:p>
        </p:txBody>
      </p:sp>
      <p:pic>
        <p:nvPicPr>
          <p:cNvPr id="5" name="Content Placeholder 4" descr="A close-up of words&#10;&#10;AI-generated content may be incorrect.">
            <a:extLst>
              <a:ext uri="{FF2B5EF4-FFF2-40B4-BE49-F238E27FC236}">
                <a16:creationId xmlns:a16="http://schemas.microsoft.com/office/drawing/2014/main" id="{370B2562-4F56-6BEA-3BA6-E6194FFF8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834119"/>
            <a:ext cx="9144000" cy="522514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979FF1-C278-0B86-E8CC-2BEA1103CA98}"/>
              </a:ext>
            </a:extLst>
          </p:cNvPr>
          <p:cNvSpPr txBox="1"/>
          <p:nvPr/>
        </p:nvSpPr>
        <p:spPr>
          <a:xfrm>
            <a:off x="123825" y="6064705"/>
            <a:ext cx="8839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Jason Huh (RPI), </a:t>
            </a:r>
            <a:r>
              <a:rPr lang="en-US" sz="1650" dirty="0" err="1">
                <a:latin typeface="Arial" panose="020B0604020202020204" pitchFamily="34" charset="0"/>
                <a:cs typeface="Arial" panose="020B0604020202020204" pitchFamily="34" charset="0"/>
              </a:rPr>
              <a:t>Jianjing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 Lin (UMass Amherst), Lucy X Wang (UMass Amherst; MPI; CCHE)</a:t>
            </a:r>
          </a:p>
          <a:p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Emails: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huhj2@rpi.edu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jianjinglin@umass.edu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xiaoluwang@umass.edu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3919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FECF-0285-EEDC-46C8-495DD211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4" y="152400"/>
            <a:ext cx="8839200" cy="533400"/>
          </a:xfrm>
        </p:spPr>
        <p:txBody>
          <a:bodyPr/>
          <a:lstStyle/>
          <a:p>
            <a:r>
              <a:rPr lang="en-US" dirty="0"/>
              <a:t>Summary statistics in pre-treatment period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C6747-296D-B492-3C65-B7E27D6EE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C4D428-CC35-7FFA-A726-EBD8B5AE6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966" y="764372"/>
            <a:ext cx="6286246" cy="6083900"/>
          </a:xfrm>
          <a:prstGeom prst="rect">
            <a:avLst/>
          </a:prstGeom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E02486E3-EF2D-CCC5-CD57-3ABE68AC6F6C}"/>
              </a:ext>
            </a:extLst>
          </p:cNvPr>
          <p:cNvSpPr/>
          <p:nvPr/>
        </p:nvSpPr>
        <p:spPr>
          <a:xfrm>
            <a:off x="8142829" y="6515100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436586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0724-9065-CAE1-C264-2CF6AAD7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Hospital Referral Region (HRR) level analysis</a:t>
            </a:r>
          </a:p>
        </p:txBody>
      </p:sp>
      <p:pic>
        <p:nvPicPr>
          <p:cNvPr id="6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459CE599-841C-7F02-7110-18C1842CD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9609"/>
            <a:ext cx="9145621" cy="3266802"/>
          </a:xfrm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C3C31C21-AF54-9DF7-AC11-E8833C5A57E3}"/>
              </a:ext>
            </a:extLst>
          </p:cNvPr>
          <p:cNvSpPr/>
          <p:nvPr/>
        </p:nvSpPr>
        <p:spPr>
          <a:xfrm>
            <a:off x="8142829" y="6515100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783317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C02B-4C76-23C9-A5FA-1191C68A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check: subsample sensitivity checks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D26555FC-1946-477A-FE64-2C3E94A7AB7E}"/>
              </a:ext>
            </a:extLst>
          </p:cNvPr>
          <p:cNvSpPr/>
          <p:nvPr/>
        </p:nvSpPr>
        <p:spPr>
          <a:xfrm>
            <a:off x="7867051" y="6580232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pic>
        <p:nvPicPr>
          <p:cNvPr id="3" name="Picture 2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2F696F31-98EC-9099-C2E0-F18F6BB89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632" y="841443"/>
            <a:ext cx="952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24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652C-E339-3057-AB9F-72091ECDF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Leave-one-out analysis by specialty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8EBBC0-B88B-13B4-88B4-4222012B4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6040" y="748331"/>
            <a:ext cx="4649519" cy="619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FC0B919F-8CBC-7F06-2310-660C191BD414}"/>
              </a:ext>
            </a:extLst>
          </p:cNvPr>
          <p:cNvSpPr/>
          <p:nvPr/>
        </p:nvSpPr>
        <p:spPr>
          <a:xfrm>
            <a:off x="7867051" y="6580232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121724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AE7B3B-78E2-A4AB-F247-F6001BF9B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898" y="755464"/>
            <a:ext cx="8637891" cy="5182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0F3013-152B-80DC-1412-80BF4816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Matched-</a:t>
            </a:r>
            <a:r>
              <a:rPr lang="en-US" dirty="0" err="1"/>
              <a:t>DiD</a:t>
            </a:r>
            <a:r>
              <a:rPr lang="en-US" dirty="0"/>
              <a:t>: overall stacked &amp; by census region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CFA4B010-56DF-6D71-3BBD-2E6A2F21AB6E}"/>
              </a:ext>
            </a:extLst>
          </p:cNvPr>
          <p:cNvSpPr/>
          <p:nvPr/>
        </p:nvSpPr>
        <p:spPr>
          <a:xfrm>
            <a:off x="7391401" y="6615896"/>
            <a:ext cx="1371600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 (robust)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B23D3-042E-097E-8C75-E7A8793F814C}"/>
              </a:ext>
            </a:extLst>
          </p:cNvPr>
          <p:cNvSpPr txBox="1"/>
          <p:nvPr/>
        </p:nvSpPr>
        <p:spPr>
          <a:xfrm>
            <a:off x="-1622" y="5635301"/>
            <a:ext cx="91372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method à la </a:t>
            </a:r>
            <a:r>
              <a:rPr lang="en-US" sz="1350" dirty="0" err="1">
                <a:latin typeface="Arial" panose="020B0604020202020204" pitchFamily="34" charset="0"/>
                <a:cs typeface="Arial" panose="020B0604020202020204" pitchFamily="34" charset="0"/>
              </a:rPr>
              <a:t>Deryugina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 et al. (2018 AEJ) and identify the top 10 control counties for each ever-treated county, based on the following county characteristics in 2000-2004: HB physician density, annual % change in HB physician density, Medicare advantage penetration rate, % 65+ population, income per capita, and unemployment rate. We then further restrict the control counties to be far enough (≥300 miles and in a different census region from the focal county). </a:t>
            </a:r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C1D47738-6BF8-BDC6-D06F-B77FDE236727}"/>
              </a:ext>
            </a:extLst>
          </p:cNvPr>
          <p:cNvSpPr/>
          <p:nvPr/>
        </p:nvSpPr>
        <p:spPr>
          <a:xfrm>
            <a:off x="5791200" y="6615896"/>
            <a:ext cx="1283886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 (main)</a:t>
            </a:r>
          </a:p>
        </p:txBody>
      </p:sp>
    </p:spTree>
    <p:extLst>
      <p:ext uri="{BB962C8B-B14F-4D97-AF65-F5344CB8AC3E}">
        <p14:creationId xmlns:p14="http://schemas.microsoft.com/office/powerpoint/2010/main" val="1937483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6380-933C-3B10-D394-50209823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vs continuous HIT adoption treatment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5164D-409F-9723-85B4-3B175C397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47" y="771806"/>
            <a:ext cx="8989375" cy="539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BAF55-46D7-3A2B-F544-E24340712B86}"/>
              </a:ext>
            </a:extLst>
          </p:cNvPr>
          <p:cNvSpPr txBox="1"/>
          <p:nvPr/>
        </p:nvSpPr>
        <p:spPr>
          <a:xfrm>
            <a:off x="77554" y="6087606"/>
            <a:ext cx="8354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estimated ATE from a continuous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estimation approach is 2.72** (1.35), compared to our main estimates under discrete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2.16** (1.04). 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9EC40249-3194-128C-D959-37AAE6E42983}"/>
              </a:ext>
            </a:extLst>
          </p:cNvPr>
          <p:cNvSpPr/>
          <p:nvPr/>
        </p:nvSpPr>
        <p:spPr>
          <a:xfrm>
            <a:off x="8052460" y="6506184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27034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9D1A-0142-CAF1-2DA8-23FB3528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data DVs for main results (num./denom.)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76DB8F-9C57-9591-9B5B-9BFFA6831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1052551"/>
            <a:ext cx="9144000" cy="5405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E2FEAA9-88AC-7B04-4F81-7CEBF27B2E3A}"/>
              </a:ext>
            </a:extLst>
          </p:cNvPr>
          <p:cNvSpPr/>
          <p:nvPr/>
        </p:nvSpPr>
        <p:spPr>
          <a:xfrm>
            <a:off x="8052460" y="6506184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4065500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0C26B618-C683-71D1-6FF9-12E385EF1F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9989"/>
            <a:ext cx="9152914" cy="54917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B30918-B47C-3540-B37C-0764D560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check: specification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F5C35-DBC7-8D3C-F91D-2043A04C0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8" y="895350"/>
            <a:ext cx="8763001" cy="5791200"/>
          </a:xfrm>
        </p:spPr>
        <p:txBody>
          <a:bodyPr/>
          <a:lstStyle/>
          <a:p>
            <a:r>
              <a:rPr lang="en-US" dirty="0"/>
              <a:t>Note the main specification always include state-specific time trends and a set of county-level observables in 2005 each times a linear time trend.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C87CF006-8C51-F2DF-E859-54C95A2D9443}"/>
              </a:ext>
            </a:extLst>
          </p:cNvPr>
          <p:cNvSpPr/>
          <p:nvPr/>
        </p:nvSpPr>
        <p:spPr>
          <a:xfrm>
            <a:off x="8490204" y="6019800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7453506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CB60-2202-DE5E-4FD6-B957E9DB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</a:t>
            </a:r>
            <a:r>
              <a:rPr lang="en-US" dirty="0" err="1"/>
              <a:t>DiD</a:t>
            </a:r>
            <a:r>
              <a:rPr lang="en-US" dirty="0"/>
              <a:t> estimators for the main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00D84-EC44-0C2C-6A17-1207B9F2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78414"/>
            <a:ext cx="8305800" cy="5750985"/>
          </a:xfrm>
        </p:spPr>
        <p:txBody>
          <a:bodyPr/>
          <a:lstStyle/>
          <a:p>
            <a:r>
              <a:rPr lang="en-US" dirty="0"/>
              <a:t>All estimators use t=-1 as the reference except </a:t>
            </a:r>
            <a:r>
              <a:rPr lang="en-US" dirty="0" err="1"/>
              <a:t>Borusyak</a:t>
            </a:r>
            <a:r>
              <a:rPr lang="en-US" dirty="0"/>
              <a:t> et al., which uses the earliest period as the baseline period. 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D0B0873F-7DB1-4E14-BA86-50BEDC0C01A2}"/>
              </a:ext>
            </a:extLst>
          </p:cNvPr>
          <p:cNvSpPr/>
          <p:nvPr/>
        </p:nvSpPr>
        <p:spPr>
          <a:xfrm>
            <a:off x="8229600" y="1279599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pic>
        <p:nvPicPr>
          <p:cNvPr id="6" name="Picture 5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874F5052-EFD8-7D4A-07C2-ABBD82B900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015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44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87F4-7207-434E-701F-F3F8CC772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HIT measures: CPOE/PD adoption</a:t>
            </a:r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32BC4C7F-8513-66AF-231A-93503B190B58}"/>
              </a:ext>
            </a:extLst>
          </p:cNvPr>
          <p:cNvSpPr/>
          <p:nvPr/>
        </p:nvSpPr>
        <p:spPr>
          <a:xfrm>
            <a:off x="8001000" y="6562725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828FB3-0D98-CCFB-6F2E-E81A400490EF}"/>
              </a:ext>
            </a:extLst>
          </p:cNvPr>
          <p:cNvSpPr txBox="1">
            <a:spLocks/>
          </p:cNvSpPr>
          <p:nvPr/>
        </p:nvSpPr>
        <p:spPr bwMode="auto">
          <a:xfrm>
            <a:off x="89170" y="800709"/>
            <a:ext cx="8947826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ts val="120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-128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+mn-cs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3pPr>
            <a:lvl4pPr marL="15986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4pPr>
            <a:lvl5pPr marL="20542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5pPr>
            <a:lvl6pPr marL="2512248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9022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793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564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kern="0" dirty="0"/>
              <a:t>Alt. HIT adoption measures: county-level sharp adoption of either CPOE or physician documentation (PD) – another advanced HIT component </a:t>
            </a:r>
            <a:r>
              <a:rPr lang="en-US" sz="1800" kern="0" dirty="0"/>
              <a:t>(noted in </a:t>
            </a:r>
            <a:r>
              <a:rPr lang="en-US" sz="1800" kern="0" dirty="0" err="1"/>
              <a:t>Dranove</a:t>
            </a:r>
            <a:r>
              <a:rPr lang="en-US" sz="1800" kern="0" dirty="0"/>
              <a:t> et al., 2014)</a:t>
            </a:r>
            <a:r>
              <a:rPr lang="en-US" kern="0" dirty="0"/>
              <a:t> but not core for HITECH act MU criteria. 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Clinical Data Repository (CDR), in contrast, is a basic HIT w/ limited functions</a:t>
            </a:r>
          </a:p>
        </p:txBody>
      </p:sp>
      <p:pic>
        <p:nvPicPr>
          <p:cNvPr id="8" name="Picture 7" descr="A graph of a curve&#10;&#10;AI-generated content may be incorrect.">
            <a:extLst>
              <a:ext uri="{FF2B5EF4-FFF2-40B4-BE49-F238E27FC236}">
                <a16:creationId xmlns:a16="http://schemas.microsoft.com/office/drawing/2014/main" id="{5F05DF48-C43C-01AE-2475-4AB143BDA9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872" y="2571440"/>
            <a:ext cx="9448800" cy="35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998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RA201@DCDFKGOFUVW0Y5J4" val="5302"/>
  <p:tag name="FIRSTRA203@UQHJGUNFUVW0Y5HA" val="5302"/>
</p:tagLst>
</file>

<file path=ppt/theme/theme1.xml><?xml version="1.0" encoding="utf-8"?>
<a:theme xmlns:a="http://schemas.openxmlformats.org/drawingml/2006/main" name="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Beamer Slides - Title and Outlines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140900</TotalTime>
  <Words>2848</Words>
  <Application>Microsoft Office PowerPoint</Application>
  <PresentationFormat>On-screen Show (4:3)</PresentationFormat>
  <Paragraphs>241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cmss10</vt:lpstr>
      <vt:lpstr>NimbusRomNo9L-Regu</vt:lpstr>
      <vt:lpstr>Söhne</vt:lpstr>
      <vt:lpstr>Arial</vt:lpstr>
      <vt:lpstr>Calibri</vt:lpstr>
      <vt:lpstr>Cambria Math</vt:lpstr>
      <vt:lpstr>Symbol</vt:lpstr>
      <vt:lpstr>Wingdings</vt:lpstr>
      <vt:lpstr>Beamer Template</vt:lpstr>
      <vt:lpstr>1_Beamer Template</vt:lpstr>
      <vt:lpstr>8_Beamer Slides - Title and Outlines</vt:lpstr>
      <vt:lpstr>2_Beamer Template</vt:lpstr>
      <vt:lpstr>3_Beamer Template</vt:lpstr>
      <vt:lpstr>4_Beamer Template</vt:lpstr>
      <vt:lpstr>Health IT Diffusion and Physician Density</vt:lpstr>
      <vt:lpstr>Rising US HIT investments enables automation</vt:lpstr>
      <vt:lpstr>Research Question: </vt:lpstr>
      <vt:lpstr>Preview of Methods and Results</vt:lpstr>
      <vt:lpstr>Literature and Contribution </vt:lpstr>
      <vt:lpstr>Institutional context and HIT adoption trends </vt:lpstr>
      <vt:lpstr>HIT adoption measures: CPOE &amp; its functionality</vt:lpstr>
      <vt:lpstr>Conceptual Considerations</vt:lpstr>
      <vt:lpstr>Data Construction</vt:lpstr>
      <vt:lpstr>HIT treatment measure: sharp jumps in HIT rates</vt:lpstr>
      <vt:lpstr>Geographic variation in HIT and physician supply</vt:lpstr>
      <vt:lpstr>Empirical strategy: dynamic DiD &amp; event studies</vt:lpstr>
      <vt:lpstr>HIT diffusion &amp; HB physician: main results</vt:lpstr>
      <vt:lpstr>Heterogeneity cross-specialty within HB physicians</vt:lpstr>
      <vt:lpstr>Expanded firm boundary or higher total doc density?</vt:lpstr>
      <vt:lpstr>HIT Diffusion or Physician Practice Consolidation?</vt:lpstr>
      <vt:lpstr>Heterogeneity by Physician Age &amp; Shortage Status</vt:lpstr>
      <vt:lpstr>Heterogeneity by Rural/Urban (by pop density, MSA)</vt:lpstr>
      <vt:lpstr>Potential Mechanism: the Financial Impact of HIT</vt:lpstr>
      <vt:lpstr>HIT and Physician Extenders: rates and ratios</vt:lpstr>
      <vt:lpstr>Heterogeneity by utilization: doc supply &amp; care vol.</vt:lpstr>
      <vt:lpstr>Heterogeneity by utilization (pre-T p.c. Medicare tertile)</vt:lpstr>
      <vt:lpstr>Robustness checks</vt:lpstr>
      <vt:lpstr>Limitations and Future Work</vt:lpstr>
      <vt:lpstr>Conclusion &amp; Discussion </vt:lpstr>
      <vt:lpstr>Health IT Diffusion and Physician Labor Density</vt:lpstr>
      <vt:lpstr>Summary statistics in pre-treatment period</vt:lpstr>
      <vt:lpstr>Hospital Referral Region (HRR) level analysis</vt:lpstr>
      <vt:lpstr>Robustness check: subsample sensitivity checks</vt:lpstr>
      <vt:lpstr>Leave-one-out analysis by specialty</vt:lpstr>
      <vt:lpstr>Matched-DiD: overall stacked &amp; by census region</vt:lpstr>
      <vt:lpstr>Discrete vs continuous HIT adoption treatment</vt:lpstr>
      <vt:lpstr>Count data DVs for main results (num./denom.)</vt:lpstr>
      <vt:lpstr>Robustness check: specification checks</vt:lpstr>
      <vt:lpstr>Alternative DiD estimators for the main outcome</vt:lpstr>
      <vt:lpstr>Alternative HIT measures: CPOE/PD adoption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Brown</dc:creator>
  <cp:lastModifiedBy>Lucy Xiaolu Wang</cp:lastModifiedBy>
  <cp:revision>6020</cp:revision>
  <cp:lastPrinted>2022-10-20T15:10:23Z</cp:lastPrinted>
  <dcterms:created xsi:type="dcterms:W3CDTF">2013-04-11T00:11:29Z</dcterms:created>
  <dcterms:modified xsi:type="dcterms:W3CDTF">2026-04-16T15:08:45Z</dcterms:modified>
</cp:coreProperties>
</file>